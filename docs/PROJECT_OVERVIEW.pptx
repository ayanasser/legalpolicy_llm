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4000" b="1">
                <a:solidFill>
                  <a:srgbClr val="1E3A8A"/>
                </a:solidFill>
              </a:rPr>
              <a:t>⚖️ Egyptian Civil Code</a:t>
            </a:r>
          </a:p>
          <a:p>
            <a:r>
              <a:rPr sz="2200">
                <a:solidFill>
                  <a:srgbClr val="2563EB"/>
                </a:solidFill>
              </a:rPr>
              <a:t>A Bilingual (AR / EN) Legal Explainer LLM</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A master's GenAI capstone exploring five complementary ways to build a trustworthy legal assistant over the Egyptian Civil Code, unified behind one interface.</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The Problem</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Laypeople and lawyers need plain-language access to the Egyptian Civil Code.</a:t>
            </a:r>
          </a:p>
          <a:p>
            <a:pPr>
              <a:spcAft>
                <a:spcPts val="600"/>
              </a:spcAft>
            </a:pPr>
            <a:r>
              <a:rPr sz="1800">
                <a:solidFill>
                  <a:srgbClr val="1F2937"/>
                </a:solidFill>
              </a:rPr>
              <a:t>• The corpus is bilingual (Arabic original + English translation) — most tools handle only one.</a:t>
            </a:r>
          </a:p>
          <a:p>
            <a:pPr>
              <a:spcAft>
                <a:spcPts val="600"/>
              </a:spcAft>
            </a:pPr>
            <a:r>
              <a:rPr sz="1800">
                <a:solidFill>
                  <a:srgbClr val="1F2937"/>
                </a:solidFill>
              </a:rPr>
              <a:t>• Legal answers must be grounded and cited, never hallucinated, and must refuse unsafe requests (no case predictions, no personal legal advice).</a:t>
            </a:r>
          </a:p>
          <a:p>
            <a:pPr>
              <a:spcAft>
                <a:spcPts val="600"/>
              </a:spcAft>
            </a:pPr>
            <a:r>
              <a:rPr sz="1800">
                <a:solidFill>
                  <a:srgbClr val="1F2937"/>
                </a:solidFill>
              </a:rPr>
              <a:t>• Constraint: everything must run on a consumer laptop GPU (RTX 3050, 6 GB).</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The Goal</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Build and compare multiple architectures for the same task, then put them behind one UI so they can be evaluated side-by-side:</a:t>
            </a:r>
          </a:p>
          <a:p>
            <a:pPr>
              <a:spcAft>
                <a:spcPts val="600"/>
              </a:spcAft>
            </a:pPr>
            <a:r>
              <a:rPr sz="1800">
                <a:solidFill>
                  <a:srgbClr val="1F2937"/>
                </a:solidFill>
              </a:rPr>
              <a:t>• Prompt engineering — a careful system prompt + safety layer</a:t>
            </a:r>
          </a:p>
          <a:p>
            <a:pPr>
              <a:spcAft>
                <a:spcPts val="600"/>
              </a:spcAft>
            </a:pPr>
            <a:r>
              <a:rPr sz="1800">
                <a:solidFill>
                  <a:srgbClr val="1F2937"/>
                </a:solidFill>
              </a:rPr>
              <a:t>• Fine-tuning (PEFT) — make the model memorise the law</a:t>
            </a:r>
          </a:p>
          <a:p>
            <a:pPr>
              <a:spcAft>
                <a:spcPts val="600"/>
              </a:spcAft>
            </a:pPr>
            <a:r>
              <a:rPr sz="1800">
                <a:solidFill>
                  <a:srgbClr val="1F2937"/>
                </a:solidFill>
              </a:rPr>
              <a:t>• Graph RAG — retrieve from a knowledge graph</a:t>
            </a:r>
          </a:p>
          <a:p>
            <a:pPr>
              <a:spcAft>
                <a:spcPts val="600"/>
              </a:spcAft>
            </a:pPr>
            <a:r>
              <a:rPr sz="1800">
                <a:solidFill>
                  <a:srgbClr val="1F2937"/>
                </a:solidFill>
              </a:rPr>
              <a:t>• Vector RAG — retrieve from a bilingual vector store</a:t>
            </a:r>
          </a:p>
          <a:p>
            <a:pPr>
              <a:spcAft>
                <a:spcPts val="600"/>
              </a:spcAft>
            </a:pPr>
            <a:r>
              <a:rPr sz="1800">
                <a:solidFill>
                  <a:srgbClr val="1F2937"/>
                </a:solidFill>
              </a:rPr>
              <a:t>• Multi-agent — orchestrated reasoning with tools</a:t>
            </a:r>
          </a:p>
          <a:p>
            <a:pPr>
              <a:spcAft>
                <a:spcPts val="600"/>
              </a:spcAft>
            </a:pPr>
            <a:r>
              <a:rPr sz="1800">
                <a:solidFill>
                  <a:srgbClr val="1F2937"/>
                </a:solidFill>
              </a:rPr>
              <a:t>• Combined — legal prompt + graph RAG answered by the fine-tuned model</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The Corpus — From PDF to Structured Data</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The Egyptian Civil Code was published as a single 170-page PDF containing every article in both Arabic and English (side-by-side legal text).</a:t>
            </a:r>
          </a:p>
          <a:p>
            <a:pPr>
              <a:spcAft>
                <a:spcPts val="600"/>
              </a:spcAft>
            </a:pPr>
            <a:r>
              <a:rPr sz="1800">
                <a:solidFill>
                  <a:srgbClr val="1F2937"/>
                </a:solidFill>
              </a:rPr>
              <a:t>• We extracted the raw PDF text and flattened it per article into a structured JSON file — data/orig_data.json (extraction_mode: raw_text_flat_articles).</a:t>
            </a:r>
          </a:p>
          <a:p>
            <a:pPr>
              <a:spcAft>
                <a:spcPts val="600"/>
              </a:spcAft>
            </a:pPr>
            <a:r>
              <a:rPr sz="1800">
                <a:solidFill>
                  <a:srgbClr val="1F2937"/>
                </a:solidFill>
              </a:rPr>
              <a:t>• Result: 1,093 articles, each keyed "Article N". Every article record contains:</a:t>
            </a:r>
          </a:p>
          <a:p>
            <a:pPr lvl="1">
              <a:spcAft>
                <a:spcPts val="600"/>
              </a:spcAft>
            </a:pPr>
            <a:r>
              <a:rPr sz="1800">
                <a:solidFill>
                  <a:srgbClr val="1F2937"/>
                </a:solidFill>
              </a:rPr>
              <a:t>• arabic — the original Arabic text</a:t>
            </a:r>
          </a:p>
          <a:p>
            <a:pPr lvl="1">
              <a:spcAft>
                <a:spcPts val="600"/>
              </a:spcAft>
            </a:pPr>
            <a:r>
              <a:rPr sz="1800">
                <a:solidFill>
                  <a:srgbClr val="1F2937"/>
                </a:solidFill>
              </a:rPr>
              <a:t>• english — the English translation</a:t>
            </a:r>
          </a:p>
          <a:p>
            <a:pPr lvl="1">
              <a:spcAft>
                <a:spcPts val="600"/>
              </a:spcAft>
            </a:pPr>
            <a:r>
              <a:rPr sz="1800">
                <a:solidFill>
                  <a:srgbClr val="1F2937"/>
                </a:solidFill>
              </a:rPr>
              <a:t>• metadata — the section breadcrumb (book → chapter → section, AR + EN)</a:t>
            </a:r>
          </a:p>
          <a:p>
            <a:pPr>
              <a:spcAft>
                <a:spcPts val="600"/>
              </a:spcAft>
            </a:pPr>
            <a:r>
              <a:rPr sz="1800">
                <a:solidFill>
                  <a:srgbClr val="1F2937"/>
                </a:solidFill>
              </a:rPr>
              <a:t>• A __metadata__ header records the source file, page count, and record shape.</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The Corpus — Real Samples</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Article 1 (Laws and their Application)</a:t>
            </a:r>
          </a:p>
          <a:p>
            <a:pPr>
              <a:spcAft>
                <a:spcPts val="600"/>
              </a:spcAft>
            </a:pPr>
            <a:r>
              <a:rPr sz="1800" i="1">
                <a:solidFill>
                  <a:srgbClr val="2563EB"/>
                </a:solidFill>
              </a:rPr>
              <a:t>“AR: تسرى النصوص التشريعية على جميع المسائل التي تتناولها هذه النصوص… فإذا لم يوجد نص تشريعي يمكن تطبيقه، حكم القاضي بمقتضى العرف…”</a:t>
            </a:r>
          </a:p>
          <a:p>
            <a:pPr>
              <a:spcAft>
                <a:spcPts val="600"/>
              </a:spcAft>
            </a:pPr>
            <a:r>
              <a:rPr sz="1800" i="1">
                <a:solidFill>
                  <a:srgbClr val="2563EB"/>
                </a:solidFill>
              </a:rPr>
              <a:t>“EN: Provisions of laws govern all matters to which these provisions apply… In the absence of an applicable provision, the Judge will decide according to custom… then the principles of Moslem Law…”</a:t>
            </a:r>
          </a:p>
          <a:p>
            <a:pPr>
              <a:spcAft>
                <a:spcPts val="600"/>
              </a:spcAft>
            </a:pPr>
            <a:r>
              <a:rPr sz="1800">
                <a:solidFill>
                  <a:srgbClr val="1F2937"/>
                </a:solidFill>
              </a:rPr>
              <a:t>Article 4 (Exercise of Rights)</a:t>
            </a:r>
          </a:p>
          <a:p>
            <a:pPr>
              <a:spcAft>
                <a:spcPts val="600"/>
              </a:spcAft>
            </a:pPr>
            <a:r>
              <a:rPr sz="1800" i="1">
                <a:solidFill>
                  <a:srgbClr val="2563EB"/>
                </a:solidFill>
              </a:rPr>
              <a:t>“AR: من استعمل حقه استعمالاً مشروعاً لا يكون مسئولاً عما ينشأ عن ذلك من ضرر.”</a:t>
            </a:r>
          </a:p>
          <a:p>
            <a:pPr>
              <a:spcAft>
                <a:spcPts val="600"/>
              </a:spcAft>
            </a:pPr>
            <a:r>
              <a:rPr sz="1800" i="1">
                <a:solidFill>
                  <a:srgbClr val="2563EB"/>
                </a:solidFill>
              </a:rPr>
              <a:t>“EN: A person who legitimately exercises his rights is not responsible for prejudice resulting thereby.”</a:t>
            </a:r>
          </a:p>
          <a:p>
            <a:pPr>
              <a:spcAft>
                <a:spcPts val="600"/>
              </a:spcAft>
            </a:pPr>
            <a:r>
              <a:rPr sz="1800">
                <a:solidFill>
                  <a:srgbClr val="1F2937"/>
                </a:solidFill>
              </a:rPr>
              <a:t>metadata: ["نصوص القانون المدنى", "باب تمهيدي", … "SECTION I", "Laws and their Applications", …]</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The Corpus — Derived Datasets</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EgyptianLaw.pdf — full source (≈2,164 articles) also used by the agent's knowledge graph (Project 5).</a:t>
            </a:r>
          </a:p>
          <a:p>
            <a:pPr>
              <a:spcAft>
                <a:spcPts val="600"/>
              </a:spcAft>
            </a:pPr>
            <a:r>
              <a:rPr sz="1800">
                <a:solidFill>
                  <a:srgbClr val="1F2937"/>
                </a:solidFill>
              </a:rPr>
              <a:t>• Training sets built from the JSON: a house-style Q&amp;A set (Experiment 1) → a knowledge-injection set of 22 K+ examples (Experiments 4–5).</a:t>
            </a:r>
          </a:p>
          <a:p>
            <a:pPr>
              <a:spcAft>
                <a:spcPts val="600"/>
              </a:spcAft>
            </a:pPr>
            <a:r>
              <a:rPr sz="1800">
                <a:solidFill>
                  <a:srgbClr val="1F2937"/>
                </a:solidFill>
              </a:rPr>
              <a:t>• Eval question sets: general-public (colloquial AR) and lawyer-framed (AR).</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Architecture at a Glance</a:t>
            </a:r>
          </a:p>
        </p:txBody>
      </p:sp>
      <p:sp>
        <p:nvSpPr>
          <p:cNvPr id="4" name="TextBox 3"/>
          <p:cNvSpPr txBox="1"/>
          <p:nvPr/>
        </p:nvSpPr>
        <p:spPr>
          <a:xfrm>
            <a:off x="530000" y="1450000"/>
            <a:ext cx="11132000" cy="5108000"/>
          </a:xfrm>
          <a:prstGeom prst="rect">
            <a:avLst/>
          </a:prstGeom>
          <a:noFill/>
        </p:spPr>
        <p:txBody>
          <a:bodyPr wrap="square">
            <a:spAutoFit/>
          </a:bodyPr>
          <a:lstStyle/>
          <a:p/>
          <a:p>
            <a:r>
              <a:rPr sz="1400">
                <a:solidFill>
                  <a:srgbClr val="475569"/>
                </a:solidFill>
                <a:latin typeface="Consolas"/>
              </a:rPr>
              <a:t>                         ┌─────────────────────────────┐</a:t>
            </a:r>
          </a:p>
          <a:p>
            <a:r>
              <a:rPr sz="1400">
                <a:solidFill>
                  <a:srgbClr val="475569"/>
                </a:solidFill>
                <a:latin typeface="Consolas"/>
              </a:rPr>
              <a:t>        User question →  │     Unified Gradio UI       │  (dropdown picks 1 of 9)</a:t>
            </a:r>
          </a:p>
          <a:p>
            <a:r>
              <a:rPr sz="1400">
                <a:solidFill>
                  <a:srgbClr val="475569"/>
                </a:solidFill>
                <a:latin typeface="Consolas"/>
              </a:rPr>
              <a:t>                         └──────────────┬──────────────┘</a:t>
            </a:r>
          </a:p>
          <a:p>
            <a:r>
              <a:rPr sz="1400">
                <a:solidFill>
                  <a:srgbClr val="475569"/>
                </a:solidFill>
                <a:latin typeface="Consolas"/>
              </a:rPr>
              <a:t>        ┌───────────────┬──────────────┼───────────────┬─────────────────┐</a:t>
            </a:r>
          </a:p>
          <a:p>
            <a:r>
              <a:rPr sz="1400">
                <a:solidFill>
                  <a:srgbClr val="475569"/>
                </a:solidFill>
                <a:latin typeface="Consolas"/>
              </a:rPr>
              <a:t>        ▼               ▼              ▼               ▼                 ▼</a:t>
            </a:r>
          </a:p>
          <a:p>
            <a:r>
              <a:rPr sz="1400">
                <a:solidFill>
                  <a:srgbClr val="475569"/>
                </a:solidFill>
                <a:latin typeface="Consolas"/>
              </a:rPr>
              <a:t>  Prompt Design   Fine-tuned 3B   Neo4j Graph RAG  Bilingual RAG   Multi-Agent</a:t>
            </a:r>
          </a:p>
          <a:p>
            <a:r>
              <a:rPr sz="1400">
                <a:solidFill>
                  <a:srgbClr val="475569"/>
                </a:solidFill>
                <a:latin typeface="Consolas"/>
              </a:rPr>
              <a:t>  (Ollama +       (QLoRA adapter, (BGE-M3 + graph  (BGE-M3 +       (LangGraph +</a:t>
            </a:r>
          </a:p>
          <a:p>
            <a:r>
              <a:rPr sz="1400">
                <a:solidFill>
                  <a:srgbClr val="475569"/>
                </a:solidFill>
                <a:latin typeface="Consolas"/>
              </a:rPr>
              <a:t>   legal prompt)   closed-book)    + vector)        Chroma)         tools, glm-5)</a:t>
            </a:r>
          </a:p>
          <a:p>
            <a:r>
              <a:rPr sz="1400">
                <a:solidFill>
                  <a:srgbClr val="475569"/>
                </a:solidFill>
                <a:latin typeface="Consolas"/>
              </a:rPr>
              <a:t>                         │                                  </a:t>
            </a:r>
          </a:p>
          <a:p>
            <a:r>
              <a:rPr sz="1400">
                <a:solidFill>
                  <a:srgbClr val="475569"/>
                </a:solidFill>
                <a:latin typeface="Consolas"/>
              </a:rPr>
              <a:t>                         └──────────►  Combined (Project 6): legal prompt</a:t>
            </a:r>
          </a:p>
          <a:p>
            <a:r>
              <a:rPr sz="1400">
                <a:solidFill>
                  <a:srgbClr val="475569"/>
                </a:solidFill>
                <a:latin typeface="Consolas"/>
              </a:rPr>
              <a:t>                                       + graph RAG → fine-tuned answer</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1 — Prompt Design</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Careful prompt engineering, no training.</a:t>
            </a:r>
          </a:p>
          <a:p>
            <a:pPr>
              <a:spcAft>
                <a:spcPts val="600"/>
              </a:spcAft>
            </a:pPr>
            <a:r>
              <a:rPr sz="1800">
                <a:solidFill>
                  <a:srgbClr val="1F2937"/>
                </a:solidFill>
              </a:rPr>
              <a:t>• Model: Llama-3.2-3B (also Qwen2.5-3B) via Ollama.</a:t>
            </a:r>
          </a:p>
          <a:p>
            <a:pPr>
              <a:spcAft>
                <a:spcPts val="600"/>
              </a:spcAft>
            </a:pPr>
            <a:r>
              <a:rPr sz="1800">
                <a:solidFill>
                  <a:srgbClr val="1F2937"/>
                </a:solidFill>
              </a:rPr>
              <a:t>• A 11 K-char legal system prompt: educational tone, plain-English jargon, fixed answer structure, length norms.</a:t>
            </a:r>
          </a:p>
          <a:p>
            <a:pPr>
              <a:spcAft>
                <a:spcPts val="600"/>
              </a:spcAft>
            </a:pPr>
            <a:r>
              <a:rPr sz="1800">
                <a:solidFill>
                  <a:srgbClr val="1F2937"/>
                </a:solidFill>
              </a:rPr>
              <a:t>• Deterministic safety gate — refuses case predictions, personal legal advice, law-circumvention, pending litigation.</a:t>
            </a:r>
          </a:p>
          <a:p>
            <a:pPr>
              <a:spcAft>
                <a:spcPts val="600"/>
              </a:spcAft>
            </a:pPr>
            <a:r>
              <a:rPr sz="1800">
                <a:solidFill>
                  <a:srgbClr val="1F2937"/>
                </a:solidFill>
              </a:rPr>
              <a:t>• Context-aware disclaimers (short vs. detailed for high-stakes).</a:t>
            </a:r>
          </a:p>
          <a:p>
            <a:pPr>
              <a:spcAft>
                <a:spcPts val="600"/>
              </a:spcAft>
            </a:pPr>
            <a:r>
              <a:rPr sz="1800">
                <a:solidFill>
                  <a:srgbClr val="1F2937"/>
                </a:solidFill>
              </a:rPr>
              <a:t>• src/Prompt Design/… (CLI) → reusable module src/legal_explainer/prompt_design/.</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1 — In Action</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Normal question — "What does force majeure mean?"</a:t>
            </a:r>
          </a:p>
          <a:p>
            <a:pPr>
              <a:spcAft>
                <a:spcPts val="600"/>
              </a:spcAft>
            </a:pPr>
            <a:r>
              <a:rPr sz="1800" i="1">
                <a:solidFill>
                  <a:srgbClr val="2563EB"/>
                </a:solidFill>
              </a:rPr>
              <a:t>“Force Majeure — In plain English: an extraordinary event that makes it impossible to fulfil a contract… Key elements / Example / Disclaimer (fixed structure).”</a:t>
            </a:r>
          </a:p>
          <a:p>
            <a:pPr>
              <a:spcAft>
                <a:spcPts val="600"/>
              </a:spcAft>
            </a:pPr>
            <a:r>
              <a:rPr sz="1800">
                <a:solidFill>
                  <a:srgbClr val="1F2937"/>
                </a:solidFill>
              </a:rPr>
              <a:t>🛡️ Unsafe question — "Predict whether I will win my court case next week."</a:t>
            </a:r>
          </a:p>
          <a:p>
            <a:pPr>
              <a:spcAft>
                <a:spcPts val="600"/>
              </a:spcAft>
            </a:pPr>
            <a:r>
              <a:rPr sz="1800" i="1">
                <a:solidFill>
                  <a:srgbClr val="2563EB"/>
                </a:solidFill>
              </a:rPr>
              <a:t>“"I can't predict how your case would be decided — legal outcomes depend on many specific facts… I'm happy to explain the legal principles that typically apply instead."”</a:t>
            </a:r>
          </a:p>
          <a:p>
            <a:pPr>
              <a:spcAft>
                <a:spcPts val="600"/>
              </a:spcAft>
            </a:pPr>
            <a:r>
              <a:rPr sz="1800">
                <a:solidFill>
                  <a:srgbClr val="1F2937"/>
                </a:solidFill>
              </a:rPr>
              <a:t>Refusal categories (deterministic, pre-LLM): specific legal advice · case prediction · circumventing the law · pending litigation.</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2 — Fine-tuned Knowledge Model</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Make the model memorise the law (PEFT).</a:t>
            </a:r>
          </a:p>
          <a:p>
            <a:pPr>
              <a:spcAft>
                <a:spcPts val="600"/>
              </a:spcAft>
            </a:pPr>
            <a:r>
              <a:rPr sz="1800">
                <a:solidFill>
                  <a:srgbClr val="1F2937"/>
                </a:solidFill>
              </a:rPr>
              <a:t>• QLoRA adapter over Qwen2.5-3B-Instruct, 4-bit — fits the 6 GB GPU.</a:t>
            </a:r>
          </a:p>
          <a:p>
            <a:pPr>
              <a:spcAft>
                <a:spcPts val="600"/>
              </a:spcAft>
            </a:pPr>
            <a:r>
              <a:rPr sz="1800">
                <a:solidFill>
                  <a:srgbClr val="1F2937"/>
                </a:solidFill>
              </a:rPr>
              <a:t>• Trained on a knowledge-injection dataset so the model recalls articles closed-book (no retrieval).</a:t>
            </a:r>
          </a:p>
          <a:p>
            <a:pPr>
              <a:spcAft>
                <a:spcPts val="600"/>
              </a:spcAft>
            </a:pPr>
            <a:r>
              <a:rPr sz="1800">
                <a:solidFill>
                  <a:srgbClr val="1F2937"/>
                </a:solidFill>
              </a:rPr>
              <a:t>• Capabilities: verbatim recall, reverse lookup ("which article says…"), placement, bilingual EN/AR.</a:t>
            </a:r>
          </a:p>
          <a:p>
            <a:pPr>
              <a:spcAft>
                <a:spcPts val="600"/>
              </a:spcAft>
            </a:pPr>
            <a:r>
              <a:rPr sz="1800">
                <a:solidFill>
                  <a:srgbClr val="1F2937"/>
                </a:solidFill>
              </a:rPr>
              <a:t>• runs/qlora-qwen2.5-3b-knowledge · Gradio chat app.</a:t>
            </a:r>
          </a:p>
          <a:p>
            <a:pPr>
              <a:spcAft>
                <a:spcPts val="600"/>
              </a:spcAft>
            </a:pPr>
            <a:r>
              <a:rPr sz="1800" i="1">
                <a:solidFill>
                  <a:srgbClr val="2563EB"/>
                </a:solidFill>
              </a:rPr>
              <a:t>“Thesis point: the fine-tune must demonstrate PEFT itself learning the domain — not a RAG shortcut.”</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2 — The Data Journey</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Experiment 1 — house-style Q&amp;A (~900 → ~3.9 K pairs).</a:t>
            </a:r>
          </a:p>
          <a:p>
            <a:pPr>
              <a:spcAft>
                <a:spcPts val="600"/>
              </a:spcAft>
            </a:pPr>
            <a:r>
              <a:rPr sz="1800">
                <a:solidFill>
                  <a:srgbClr val="1F2937"/>
                </a:solidFill>
              </a:rPr>
              <a:t>• Polished bilingual pairs that explain an article in a fixed house style.</a:t>
            </a:r>
          </a:p>
          <a:p>
            <a:pPr>
              <a:spcAft>
                <a:spcPts val="600"/>
              </a:spcAft>
            </a:pPr>
            <a:r>
              <a:rPr sz="1800">
                <a:solidFill>
                  <a:srgbClr val="1F2937"/>
                </a:solidFill>
              </a:rPr>
              <a:t>• LLM-as-judge verdict: 100 % legal-content hallucination (1.0 / 5) despite low eval loss — the model learned the template of a legal answer, not the law.</a:t>
            </a:r>
          </a:p>
          <a:p>
            <a:pPr>
              <a:spcAft>
                <a:spcPts val="600"/>
              </a:spcAft>
            </a:pPr>
            <a:r>
              <a:rPr sz="1800">
                <a:solidFill>
                  <a:srgbClr val="1F2937"/>
                </a:solidFill>
              </a:rPr>
              <a:t>The pivot → knowledge-injection dataset (22 K+ examples).</a:t>
            </a:r>
          </a:p>
          <a:p>
            <a:pPr>
              <a:spcAft>
                <a:spcPts val="600"/>
              </a:spcAft>
            </a:pPr>
            <a:r>
              <a:rPr sz="1800">
                <a:solidFill>
                  <a:srgbClr val="1F2937"/>
                </a:solidFill>
              </a:rPr>
              <a:t>• Treat memorising the article texts as a first-class training target.</a:t>
            </a:r>
          </a:p>
          <a:p>
            <a:pPr>
              <a:spcAft>
                <a:spcPts val="600"/>
              </a:spcAft>
            </a:pPr>
            <a:r>
              <a:rPr sz="1800">
                <a:solidFill>
                  <a:srgbClr val="1F2937"/>
                </a:solidFill>
              </a:rPr>
              <a:t>• ~11 task families: verbatim recall · reverse lookup · placement · gap-fill · translate · bilingual · contrast · complete · card · roster · refusals.</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2 — Experiment Timeline</a:t>
            </a:r>
          </a:p>
        </p:txBody>
      </p:sp>
      <p:graphicFrame>
        <p:nvGraphicFramePr>
          <p:cNvPr id="4" name="Table 3"/>
          <p:cNvGraphicFramePr>
            <a:graphicFrameLocks noGrp="1"/>
          </p:cNvGraphicFramePr>
          <p:nvPr/>
        </p:nvGraphicFramePr>
        <p:xfrm>
          <a:off x="530000" y="1450000"/>
          <a:ext cx="11132000" cy="2280000"/>
        </p:xfrm>
        <a:graphic>
          <a:graphicData uri="http://schemas.openxmlformats.org/drawingml/2006/table">
            <a:tbl>
              <a:tblPr firstRow="1" bandRow="1">
                <a:tableStyleId>{5C22544A-7EE6-4342-B048-85BDC9FD1C3A}</a:tableStyleId>
              </a:tblPr>
              <a:tblGrid>
                <a:gridCol w="3710666"/>
                <a:gridCol w="3710666"/>
                <a:gridCol w="3710668"/>
              </a:tblGrid>
              <a:tr h="380000">
                <a:tc>
                  <a:txBody>
                    <a:bodyPr/>
                    <a:lstStyle/>
                    <a:p>
                      <a:r>
                        <a:rPr sz="1300" b="1">
                          <a:solidFill>
                            <a:srgbClr val="FFFFFF"/>
                          </a:solidFill>
                        </a:rPr>
                        <a:t>#</a:t>
                      </a:r>
                    </a:p>
                  </a:txBody>
                  <a:tcPr anchor="ctr" marL="60000" marR="60000" marT="20000" marB="20000">
                    <a:solidFill>
                      <a:srgbClr val="2563EB"/>
                    </a:solidFill>
                  </a:tcPr>
                </a:tc>
                <a:tc>
                  <a:txBody>
                    <a:bodyPr/>
                    <a:lstStyle/>
                    <a:p>
                      <a:r>
                        <a:rPr sz="1300" b="1">
                          <a:solidFill>
                            <a:srgbClr val="FFFFFF"/>
                          </a:solidFill>
                        </a:rPr>
                        <a:t>Experiment</a:t>
                      </a:r>
                    </a:p>
                  </a:txBody>
                  <a:tcPr anchor="ctr" marL="60000" marR="60000" marT="20000" marB="20000">
                    <a:solidFill>
                      <a:srgbClr val="2563EB"/>
                    </a:solidFill>
                  </a:tcPr>
                </a:tc>
                <a:tc>
                  <a:txBody>
                    <a:bodyPr/>
                    <a:lstStyle/>
                    <a:p>
                      <a:r>
                        <a:rPr sz="1300" b="1">
                          <a:solidFill>
                            <a:srgbClr val="FFFFFF"/>
                          </a:solidFill>
                        </a:rPr>
                        <a:t>Outcome</a:t>
                      </a:r>
                    </a:p>
                  </a:txBody>
                  <a:tcPr anchor="ctr" marL="60000" marR="60000" marT="20000" marB="20000">
                    <a:solidFill>
                      <a:srgbClr val="2563EB"/>
                    </a:solidFill>
                  </a:tcPr>
                </a:tc>
              </a:tr>
              <a:tr h="380000">
                <a:tc>
                  <a:txBody>
                    <a:bodyPr/>
                    <a:lstStyle/>
                    <a:p>
                      <a:r>
                        <a:rPr sz="1300">
                          <a:solidFill>
                            <a:srgbClr val="1F2937"/>
                          </a:solidFill>
                        </a:rPr>
                        <a:t>1</a:t>
                      </a:r>
                    </a:p>
                  </a:txBody>
                  <a:tcPr anchor="ctr" marL="60000" marR="60000" marT="20000" marB="20000">
                    <a:solidFill>
                      <a:srgbClr val="EFF6FF"/>
                    </a:solidFill>
                  </a:tcPr>
                </a:tc>
                <a:tc>
                  <a:txBody>
                    <a:bodyPr/>
                    <a:lstStyle/>
                    <a:p>
                      <a:r>
                        <a:rPr sz="1300">
                          <a:solidFill>
                            <a:srgbClr val="1F2937"/>
                          </a:solidFill>
                        </a:rPr>
                        <a:t>House-style SFT (~900 pairs)</a:t>
                      </a:r>
                    </a:p>
                  </a:txBody>
                  <a:tcPr anchor="ctr" marL="60000" marR="60000" marT="20000" marB="20000">
                    <a:solidFill>
                      <a:srgbClr val="EFF6FF"/>
                    </a:solidFill>
                  </a:tcPr>
                </a:tc>
                <a:tc>
                  <a:txBody>
                    <a:bodyPr/>
                    <a:lstStyle/>
                    <a:p>
                      <a:r>
                        <a:rPr sz="1300">
                          <a:solidFill>
                            <a:srgbClr val="1F2937"/>
                          </a:solidFill>
                        </a:rPr>
                        <a:t>learns the template → 100 % hallucination</a:t>
                      </a:r>
                    </a:p>
                  </a:txBody>
                  <a:tcPr anchor="ctr" marL="60000" marR="60000" marT="20000" marB="20000">
                    <a:solidFill>
                      <a:srgbClr val="EFF6FF"/>
                    </a:solidFill>
                  </a:tcPr>
                </a:tc>
              </a:tr>
              <a:tr h="380000">
                <a:tc>
                  <a:txBody>
                    <a:bodyPr/>
                    <a:lstStyle/>
                    <a:p>
                      <a:r>
                        <a:rPr sz="1300">
                          <a:solidFill>
                            <a:srgbClr val="1F2937"/>
                          </a:solidFill>
                        </a:rPr>
                        <a:t>2</a:t>
                      </a:r>
                    </a:p>
                  </a:txBody>
                  <a:tcPr anchor="ctr" marL="60000" marR="60000" marT="20000" marB="20000">
                    <a:solidFill>
                      <a:srgbClr val="FFFFFF"/>
                    </a:solidFill>
                  </a:tcPr>
                </a:tc>
                <a:tc>
                  <a:txBody>
                    <a:bodyPr/>
                    <a:lstStyle/>
                    <a:p>
                      <a:r>
                        <a:rPr sz="1300">
                          <a:solidFill>
                            <a:srgbClr val="1F2937"/>
                          </a:solidFill>
                        </a:rPr>
                        <a:t>Data interventions (variants, refusals, contrastive negatives)</a:t>
                      </a:r>
                    </a:p>
                  </a:txBody>
                  <a:tcPr anchor="ctr" marL="60000" marR="60000" marT="20000" marB="20000">
                    <a:solidFill>
                      <a:srgbClr val="FFFFFF"/>
                    </a:solidFill>
                  </a:tcPr>
                </a:tc>
                <a:tc>
                  <a:txBody>
                    <a:bodyPr/>
                    <a:lstStyle/>
                    <a:p>
                      <a:r>
                        <a:rPr sz="1300">
                          <a:solidFill>
                            <a:srgbClr val="1F2937"/>
                          </a:solidFill>
                        </a:rPr>
                        <a:t>refusals improve, recall still weak</a:t>
                      </a:r>
                    </a:p>
                  </a:txBody>
                  <a:tcPr anchor="ctr" marL="60000" marR="60000" marT="20000" marB="20000">
                    <a:solidFill>
                      <a:srgbClr val="FFFFFF"/>
                    </a:solidFill>
                  </a:tcPr>
                </a:tc>
              </a:tr>
              <a:tr h="380000">
                <a:tc>
                  <a:txBody>
                    <a:bodyPr/>
                    <a:lstStyle/>
                    <a:p>
                      <a:r>
                        <a:rPr sz="1300">
                          <a:solidFill>
                            <a:srgbClr val="1F2937"/>
                          </a:solidFill>
                        </a:rPr>
                        <a:t>3</a:t>
                      </a:r>
                    </a:p>
                  </a:txBody>
                  <a:tcPr anchor="ctr" marL="60000" marR="60000" marT="20000" marB="20000">
                    <a:solidFill>
                      <a:srgbClr val="EFF6FF"/>
                    </a:solidFill>
                  </a:tcPr>
                </a:tc>
                <a:tc>
                  <a:txBody>
                    <a:bodyPr/>
                    <a:lstStyle/>
                    <a:p>
                      <a:r>
                        <a:rPr sz="1300">
                          <a:solidFill>
                            <a:srgbClr val="1F2937"/>
                          </a:solidFill>
                        </a:rPr>
                        <a:t>RAFT — put the article in the prompt</a:t>
                      </a:r>
                    </a:p>
                  </a:txBody>
                  <a:tcPr anchor="ctr" marL="60000" marR="60000" marT="20000" marB="20000">
                    <a:solidFill>
                      <a:srgbClr val="EFF6FF"/>
                    </a:solidFill>
                  </a:tcPr>
                </a:tc>
                <a:tc>
                  <a:txBody>
                    <a:bodyPr/>
                    <a:lstStyle/>
                    <a:p>
                      <a:r>
                        <a:rPr sz="1300">
                          <a:solidFill>
                            <a:srgbClr val="1F2937"/>
                          </a:solidFill>
                        </a:rPr>
                        <a:t>grounds answers, but not memorisation</a:t>
                      </a:r>
                    </a:p>
                  </a:txBody>
                  <a:tcPr anchor="ctr" marL="60000" marR="60000" marT="20000" marB="20000">
                    <a:solidFill>
                      <a:srgbClr val="EFF6FF"/>
                    </a:solidFill>
                  </a:tcPr>
                </a:tc>
              </a:tr>
              <a:tr h="380000">
                <a:tc>
                  <a:txBody>
                    <a:bodyPr/>
                    <a:lstStyle/>
                    <a:p>
                      <a:r>
                        <a:rPr sz="1300">
                          <a:solidFill>
                            <a:srgbClr val="1F2937"/>
                          </a:solidFill>
                        </a:rPr>
                        <a:t>4</a:t>
                      </a:r>
                    </a:p>
                  </a:txBody>
                  <a:tcPr anchor="ctr" marL="60000" marR="60000" marT="20000" marB="20000">
                    <a:solidFill>
                      <a:srgbClr val="FFFFFF"/>
                    </a:solidFill>
                  </a:tcPr>
                </a:tc>
                <a:tc>
                  <a:txBody>
                    <a:bodyPr/>
                    <a:lstStyle/>
                    <a:p>
                      <a:r>
                        <a:rPr sz="1300">
                          <a:solidFill>
                            <a:srgbClr val="1F2937"/>
                          </a:solidFill>
                        </a:rPr>
                        <a:t>Pivot: knowledge-injection (Stage A v1, 1.5 B)</a:t>
                      </a:r>
                    </a:p>
                  </a:txBody>
                  <a:tcPr anchor="ctr" marL="60000" marR="60000" marT="20000" marB="20000">
                    <a:solidFill>
                      <a:srgbClr val="FFFFFF"/>
                    </a:solidFill>
                  </a:tcPr>
                </a:tc>
                <a:tc>
                  <a:txBody>
                    <a:bodyPr/>
                    <a:lstStyle/>
                    <a:p>
                      <a:r>
                        <a:rPr sz="1300">
                          <a:solidFill>
                            <a:srgbClr val="1F2937"/>
                          </a:solidFill>
                        </a:rPr>
                        <a:t>first real recall: char-sim 0.44 vs 0.11 base</a:t>
                      </a:r>
                    </a:p>
                  </a:txBody>
                  <a:tcPr anchor="ctr" marL="60000" marR="60000" marT="20000" marB="20000">
                    <a:solidFill>
                      <a:srgbClr val="FFFFFF"/>
                    </a:solidFill>
                  </a:tcPr>
                </a:tc>
              </a:tr>
              <a:tr h="380000">
                <a:tc>
                  <a:txBody>
                    <a:bodyPr/>
                    <a:lstStyle/>
                    <a:p>
                      <a:r>
                        <a:rPr sz="1300">
                          <a:solidFill>
                            <a:srgbClr val="1F2937"/>
                          </a:solidFill>
                        </a:rPr>
                        <a:t>5</a:t>
                      </a:r>
                    </a:p>
                  </a:txBody>
                  <a:tcPr anchor="ctr" marL="60000" marR="60000" marT="20000" marB="20000">
                    <a:solidFill>
                      <a:srgbClr val="EFF6FF"/>
                    </a:solidFill>
                  </a:tcPr>
                </a:tc>
                <a:tc>
                  <a:txBody>
                    <a:bodyPr/>
                    <a:lstStyle/>
                    <a:p>
                      <a:r>
                        <a:rPr sz="1300">
                          <a:solidFill>
                            <a:srgbClr val="1F2937"/>
                          </a:solidFill>
                        </a:rPr>
                        <a:t>Stage A v2: 11-family 22 K+ set, Qwen 2.5 3B + Unsloth, 4 epochs</a:t>
                      </a:r>
                    </a:p>
                  </a:txBody>
                  <a:tcPr anchor="ctr" marL="60000" marR="60000" marT="20000" marB="20000">
                    <a:solidFill>
                      <a:srgbClr val="EFF6FF"/>
                    </a:solidFill>
                  </a:tcPr>
                </a:tc>
                <a:tc>
                  <a:txBody>
                    <a:bodyPr/>
                    <a:lstStyle/>
                    <a:p>
                      <a:r>
                        <a:rPr sz="1300">
                          <a:solidFill>
                            <a:srgbClr val="1F2937"/>
                          </a:solidFill>
                        </a:rPr>
                        <a:t>char-sim 0.88 vs 0.07 base (≈12×), 7 / 8 char-perfect</a:t>
                      </a:r>
                    </a:p>
                  </a:txBody>
                  <a:tcPr anchor="ctr" marL="60000" marR="60000" marT="20000" marB="20000">
                    <a:solidFill>
                      <a:srgbClr val="EFF6FF"/>
                    </a:solidFill>
                  </a:tcPr>
                </a:tc>
              </a:tr>
            </a:tbl>
          </a:graphicData>
        </a:graphic>
      </p:graphicFrame>
      <p:sp>
        <p:nvSpPr>
          <p:cNvPr id="5" name="TextBox 4"/>
          <p:cNvSpPr txBox="1"/>
          <p:nvPr/>
        </p:nvSpPr>
        <p:spPr>
          <a:xfrm>
            <a:off x="530000" y="6208000"/>
            <a:ext cx="11132000" cy="480000"/>
          </a:xfrm>
          <a:prstGeom prst="rect">
            <a:avLst/>
          </a:prstGeom>
          <a:noFill/>
        </p:spPr>
        <p:txBody>
          <a:bodyPr wrap="square">
            <a:spAutoFit/>
          </a:bodyPr>
          <a:lstStyle/>
          <a:p>
            <a:r>
              <a:rPr sz="1400" i="1">
                <a:solidFill>
                  <a:srgbClr val="2563EB"/>
                </a:solidFill>
              </a:rPr>
              <a:t>“📎 Full write-up: reports/experiments_journey.md”</a:t>
            </a:r>
          </a:p>
        </p:txBody>
      </p:sp>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2 — Where It Landed</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Stage A v2 (Qwen 2.5 3B + Unsloth, 4 epochs, ~15 h on the 3050) — first thesis-grade closed-book recall.</a:t>
            </a:r>
          </a:p>
          <a:p>
            <a:pPr>
              <a:spcAft>
                <a:spcPts val="600"/>
              </a:spcAft>
            </a:pPr>
            <a:r>
              <a:rPr sz="1800">
                <a:solidFill>
                  <a:srgbClr val="1F2937"/>
                </a:solidFill>
              </a:rPr>
              <a:t>• Two-stage design: Stage A knowledge injection → Stage B house style.</a:t>
            </a:r>
          </a:p>
          <a:p>
            <a:pPr>
              <a:spcAft>
                <a:spcPts val="600"/>
              </a:spcAft>
            </a:pPr>
            <a:r>
              <a:rPr sz="1800">
                <a:solidFill>
                  <a:srgbClr val="1F2937"/>
                </a:solidFill>
              </a:rPr>
              <a:t>• Remaining hard part: exact article-number ↔ text binding and fluency (misses produce real article text bound to the wrong number).</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2 — In Action</a:t>
            </a:r>
          </a:p>
        </p:txBody>
      </p:sp>
      <p:sp>
        <p:nvSpPr>
          <p:cNvPr id="4" name="TextBox 3"/>
          <p:cNvSpPr txBox="1"/>
          <p:nvPr/>
        </p:nvSpPr>
        <p:spPr>
          <a:xfrm>
            <a:off x="530000" y="1400000"/>
            <a:ext cx="11132000" cy="550000"/>
          </a:xfrm>
          <a:prstGeom prst="rect">
            <a:avLst/>
          </a:prstGeom>
          <a:noFill/>
        </p:spPr>
        <p:txBody>
          <a:bodyPr wrap="square">
            <a:spAutoFit/>
          </a:bodyPr>
          <a:lstStyle/>
          <a:p>
            <a:r>
              <a:rPr sz="1500">
                <a:solidFill>
                  <a:srgbClr val="1F2937"/>
                </a:solidFill>
              </a:rPr>
              <a:t>Closed-book recall — "Give me the English text of Article 4."</a:t>
            </a:r>
          </a:p>
        </p:txBody>
      </p:sp>
      <p:graphicFrame>
        <p:nvGraphicFramePr>
          <p:cNvPr id="5" name="Table 4"/>
          <p:cNvGraphicFramePr>
            <a:graphicFrameLocks noGrp="1"/>
          </p:cNvGraphicFramePr>
          <p:nvPr/>
        </p:nvGraphicFramePr>
        <p:xfrm>
          <a:off x="530000" y="2050000"/>
          <a:ext cx="11132000" cy="1140000"/>
        </p:xfrm>
        <a:graphic>
          <a:graphicData uri="http://schemas.openxmlformats.org/drawingml/2006/table">
            <a:tbl>
              <a:tblPr firstRow="1" bandRow="1">
                <a:tableStyleId>{5C22544A-7EE6-4342-B048-85BDC9FD1C3A}</a:tableStyleId>
              </a:tblPr>
              <a:tblGrid>
                <a:gridCol w="5566000"/>
                <a:gridCol w="5566000"/>
              </a:tblGrid>
              <a:tr h="380000">
                <a:tc>
                  <a:txBody>
                    <a:bodyPr/>
                    <a:lstStyle/>
                    <a:p>
                      <a:r>
                        <a:rPr sz="1300" b="1">
                          <a:solidFill>
                            <a:srgbClr val="FFFFFF"/>
                          </a:solidFill>
                        </a:rPr>
                        <a:t>Model</a:t>
                      </a:r>
                    </a:p>
                  </a:txBody>
                  <a:tcPr anchor="ctr" marL="60000" marR="60000" marT="20000" marB="20000">
                    <a:solidFill>
                      <a:srgbClr val="2563EB"/>
                    </a:solidFill>
                  </a:tcPr>
                </a:tc>
                <a:tc>
                  <a:txBody>
                    <a:bodyPr/>
                    <a:lstStyle/>
                    <a:p>
                      <a:r>
                        <a:rPr sz="1300" b="1">
                          <a:solidFill>
                            <a:srgbClr val="FFFFFF"/>
                          </a:solidFill>
                        </a:rPr>
                        <a:t>Answer</a:t>
                      </a:r>
                    </a:p>
                  </a:txBody>
                  <a:tcPr anchor="ctr" marL="60000" marR="60000" marT="20000" marB="20000">
                    <a:solidFill>
                      <a:srgbClr val="2563EB"/>
                    </a:solidFill>
                  </a:tcPr>
                </a:tc>
              </a:tr>
              <a:tr h="380000">
                <a:tc>
                  <a:txBody>
                    <a:bodyPr/>
                    <a:lstStyle/>
                    <a:p>
                      <a:r>
                        <a:rPr sz="1300">
                          <a:solidFill>
                            <a:srgbClr val="1F2937"/>
                          </a:solidFill>
                        </a:rPr>
                        <a:t>Base Qwen2.5-3B (no adapter)</a:t>
                      </a:r>
                    </a:p>
                  </a:txBody>
                  <a:tcPr anchor="ctr" marL="60000" marR="60000" marT="20000" marB="20000">
                    <a:solidFill>
                      <a:srgbClr val="EFF6FF"/>
                    </a:solidFill>
                  </a:tcPr>
                </a:tc>
                <a:tc>
                  <a:txBody>
                    <a:bodyPr/>
                    <a:lstStyle/>
                    <a:p>
                      <a:r>
                        <a:rPr sz="1300">
                          <a:solidFill>
                            <a:srgbClr val="1F2937"/>
                          </a:solidFill>
                        </a:rPr>
                        <a:t>"I don't have direct access to the English text of Article 4…" → doesn't know the law</a:t>
                      </a:r>
                    </a:p>
                  </a:txBody>
                  <a:tcPr anchor="ctr" marL="60000" marR="60000" marT="20000" marB="20000">
                    <a:solidFill>
                      <a:srgbClr val="EFF6FF"/>
                    </a:solidFill>
                  </a:tcPr>
                </a:tc>
              </a:tr>
              <a:tr h="380000">
                <a:tc>
                  <a:txBody>
                    <a:bodyPr/>
                    <a:lstStyle/>
                    <a:p>
                      <a:r>
                        <a:rPr sz="1300">
                          <a:solidFill>
                            <a:srgbClr val="1F2937"/>
                          </a:solidFill>
                        </a:rPr>
                        <a:t>Fine-tuned adapter</a:t>
                      </a:r>
                    </a:p>
                  </a:txBody>
                  <a:tcPr anchor="ctr" marL="60000" marR="60000" marT="20000" marB="20000">
                    <a:solidFill>
                      <a:srgbClr val="FFFFFF"/>
                    </a:solidFill>
                  </a:tcPr>
                </a:tc>
                <a:tc>
                  <a:txBody>
                    <a:bodyPr/>
                    <a:lstStyle/>
                    <a:p>
                      <a:r>
                        <a:rPr sz="1300">
                          <a:solidFill>
                            <a:srgbClr val="1F2937"/>
                          </a:solidFill>
                        </a:rPr>
                        <a:t>recalls real Egyptian Civil Code text, but bound to the wrong number (the documented number-binding gap)</a:t>
                      </a:r>
                    </a:p>
                  </a:txBody>
                  <a:tcPr anchor="ctr" marL="60000" marR="60000" marT="20000" marB="20000">
                    <a:solidFill>
                      <a:srgbClr val="FFFFFF"/>
                    </a:solidFill>
                  </a:tcPr>
                </a:tc>
              </a:tr>
            </a:tbl>
          </a:graphicData>
        </a:graphic>
      </p:graphicFrame>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The 10 Knowledge Task Families (1 / 2)</a:t>
            </a:r>
          </a:p>
        </p:txBody>
      </p:sp>
      <p:sp>
        <p:nvSpPr>
          <p:cNvPr id="4" name="TextBox 3"/>
          <p:cNvSpPr txBox="1"/>
          <p:nvPr/>
        </p:nvSpPr>
        <p:spPr>
          <a:xfrm>
            <a:off x="530000" y="1400000"/>
            <a:ext cx="11132000" cy="550000"/>
          </a:xfrm>
          <a:prstGeom prst="rect">
            <a:avLst/>
          </a:prstGeom>
          <a:noFill/>
        </p:spPr>
        <p:txBody>
          <a:bodyPr wrap="square">
            <a:spAutoFit/>
          </a:bodyPr>
          <a:lstStyle/>
          <a:p>
            <a:r>
              <a:rPr sz="1500">
                <a:solidFill>
                  <a:srgbClr val="1F2937"/>
                </a:solidFill>
              </a:rPr>
              <a:t>Each family imprints a different fact about an article. Answers are raw text from the corpus (no paraphrase), ~30 words, varied shape.</a:t>
            </a:r>
          </a:p>
        </p:txBody>
      </p:sp>
      <p:graphicFrame>
        <p:nvGraphicFramePr>
          <p:cNvPr id="5" name="Table 4"/>
          <p:cNvGraphicFramePr>
            <a:graphicFrameLocks noGrp="1"/>
          </p:cNvGraphicFramePr>
          <p:nvPr/>
        </p:nvGraphicFramePr>
        <p:xfrm>
          <a:off x="530000" y="2050000"/>
          <a:ext cx="11132000" cy="2280000"/>
        </p:xfrm>
        <a:graphic>
          <a:graphicData uri="http://schemas.openxmlformats.org/drawingml/2006/table">
            <a:tbl>
              <a:tblPr firstRow="1" bandRow="1">
                <a:tableStyleId>{5C22544A-7EE6-4342-B048-85BDC9FD1C3A}</a:tableStyleId>
              </a:tblPr>
              <a:tblGrid>
                <a:gridCol w="2783000"/>
                <a:gridCol w="2783000"/>
                <a:gridCol w="2783000"/>
                <a:gridCol w="2783000"/>
              </a:tblGrid>
              <a:tr h="380000">
                <a:tc>
                  <a:txBody>
                    <a:bodyPr/>
                    <a:lstStyle/>
                    <a:p>
                      <a:r>
                        <a:rPr sz="1300" b="1">
                          <a:solidFill>
                            <a:srgbClr val="FFFFFF"/>
                          </a:solidFill>
                        </a:rPr>
                        <a:t>#</a:t>
                      </a:r>
                    </a:p>
                  </a:txBody>
                  <a:tcPr anchor="ctr" marL="60000" marR="60000" marT="20000" marB="20000">
                    <a:solidFill>
                      <a:srgbClr val="2563EB"/>
                    </a:solidFill>
                  </a:tcPr>
                </a:tc>
                <a:tc>
                  <a:txBody>
                    <a:bodyPr/>
                    <a:lstStyle/>
                    <a:p>
                      <a:r>
                        <a:rPr sz="1300" b="1">
                          <a:solidFill>
                            <a:srgbClr val="FFFFFF"/>
                          </a:solidFill>
                        </a:rPr>
                        <a:t>Family (kind)</a:t>
                      </a:r>
                    </a:p>
                  </a:txBody>
                  <a:tcPr anchor="ctr" marL="60000" marR="60000" marT="20000" marB="20000">
                    <a:solidFill>
                      <a:srgbClr val="2563EB"/>
                    </a:solidFill>
                  </a:tcPr>
                </a:tc>
                <a:tc>
                  <a:txBody>
                    <a:bodyPr/>
                    <a:lstStyle/>
                    <a:p>
                      <a:r>
                        <a:rPr sz="1300" b="1">
                          <a:solidFill>
                            <a:srgbClr val="FFFFFF"/>
                          </a:solidFill>
                        </a:rPr>
                        <a:t>Example prompt</a:t>
                      </a:r>
                    </a:p>
                  </a:txBody>
                  <a:tcPr anchor="ctr" marL="60000" marR="60000" marT="20000" marB="20000">
                    <a:solidFill>
                      <a:srgbClr val="2563EB"/>
                    </a:solidFill>
                  </a:tcPr>
                </a:tc>
                <a:tc>
                  <a:txBody>
                    <a:bodyPr/>
                    <a:lstStyle/>
                    <a:p>
                      <a:r>
                        <a:rPr sz="1300" b="1">
                          <a:solidFill>
                            <a:srgbClr val="FFFFFF"/>
                          </a:solidFill>
                        </a:rPr>
                        <a:t>Teaches</a:t>
                      </a:r>
                    </a:p>
                  </a:txBody>
                  <a:tcPr anchor="ctr" marL="60000" marR="60000" marT="20000" marB="20000">
                    <a:solidFill>
                      <a:srgbClr val="2563EB"/>
                    </a:solidFill>
                  </a:tcPr>
                </a:tc>
              </a:tr>
              <a:tr h="380000">
                <a:tc>
                  <a:txBody>
                    <a:bodyPr/>
                    <a:lstStyle/>
                    <a:p>
                      <a:r>
                        <a:rPr sz="1300">
                          <a:solidFill>
                            <a:srgbClr val="1F2937"/>
                          </a:solidFill>
                        </a:rPr>
                        <a:t>1</a:t>
                      </a:r>
                    </a:p>
                  </a:txBody>
                  <a:tcPr anchor="ctr" marL="60000" marR="60000" marT="20000" marB="20000">
                    <a:solidFill>
                      <a:srgbClr val="EFF6FF"/>
                    </a:solidFill>
                  </a:tcPr>
                </a:tc>
                <a:tc>
                  <a:txBody>
                    <a:bodyPr/>
                    <a:lstStyle/>
                    <a:p>
                      <a:r>
                        <a:rPr sz="1300">
                          <a:solidFill>
                            <a:srgbClr val="1F2937"/>
                          </a:solidFill>
                        </a:rPr>
                        <a:t>Verbatim / quote (kn_verbatim)</a:t>
                      </a:r>
                    </a:p>
                  </a:txBody>
                  <a:tcPr anchor="ctr" marL="60000" marR="60000" marT="20000" marB="20000">
                    <a:solidFill>
                      <a:srgbClr val="EFF6FF"/>
                    </a:solidFill>
                  </a:tcPr>
                </a:tc>
                <a:tc>
                  <a:txBody>
                    <a:bodyPr/>
                    <a:lstStyle/>
                    <a:p>
                      <a:r>
                        <a:rPr sz="1300">
                          <a:solidFill>
                            <a:srgbClr val="1F2937"/>
                          </a:solidFill>
                        </a:rPr>
                        <a:t>"State Article 984 word-for-word."</a:t>
                      </a:r>
                    </a:p>
                  </a:txBody>
                  <a:tcPr anchor="ctr" marL="60000" marR="60000" marT="20000" marB="20000">
                    <a:solidFill>
                      <a:srgbClr val="EFF6FF"/>
                    </a:solidFill>
                  </a:tcPr>
                </a:tc>
                <a:tc>
                  <a:txBody>
                    <a:bodyPr/>
                    <a:lstStyle/>
                    <a:p>
                      <a:r>
                        <a:rPr sz="1300">
                          <a:solidFill>
                            <a:srgbClr val="1F2937"/>
                          </a:solidFill>
                        </a:rPr>
                        <a:t>exact recall</a:t>
                      </a:r>
                    </a:p>
                  </a:txBody>
                  <a:tcPr anchor="ctr" marL="60000" marR="60000" marT="20000" marB="20000">
                    <a:solidFill>
                      <a:srgbClr val="EFF6FF"/>
                    </a:solidFill>
                  </a:tcPr>
                </a:tc>
              </a:tr>
              <a:tr h="380000">
                <a:tc>
                  <a:txBody>
                    <a:bodyPr/>
                    <a:lstStyle/>
                    <a:p>
                      <a:r>
                        <a:rPr sz="1300">
                          <a:solidFill>
                            <a:srgbClr val="1F2937"/>
                          </a:solidFill>
                        </a:rPr>
                        <a:t>2</a:t>
                      </a:r>
                    </a:p>
                  </a:txBody>
                  <a:tcPr anchor="ctr" marL="60000" marR="60000" marT="20000" marB="20000">
                    <a:solidFill>
                      <a:srgbClr val="FFFFFF"/>
                    </a:solidFill>
                  </a:tcPr>
                </a:tc>
                <a:tc>
                  <a:txBody>
                    <a:bodyPr/>
                    <a:lstStyle/>
                    <a:p>
                      <a:r>
                        <a:rPr sz="1300">
                          <a:solidFill>
                            <a:srgbClr val="1F2937"/>
                          </a:solidFill>
                        </a:rPr>
                        <a:t>Complete (kn_complete)</a:t>
                      </a:r>
                    </a:p>
                  </a:txBody>
                  <a:tcPr anchor="ctr" marL="60000" marR="60000" marT="20000" marB="20000">
                    <a:solidFill>
                      <a:srgbClr val="FFFFFF"/>
                    </a:solidFill>
                  </a:tcPr>
                </a:tc>
                <a:tc>
                  <a:txBody>
                    <a:bodyPr/>
                    <a:lstStyle/>
                    <a:p>
                      <a:r>
                        <a:rPr sz="1300">
                          <a:solidFill>
                            <a:srgbClr val="1F2937"/>
                          </a:solidFill>
                        </a:rPr>
                        <a:t>"Finish Article N: '…'"</a:t>
                      </a:r>
                    </a:p>
                  </a:txBody>
                  <a:tcPr anchor="ctr" marL="60000" marR="60000" marT="20000" marB="20000">
                    <a:solidFill>
                      <a:srgbClr val="FFFFFF"/>
                    </a:solidFill>
                  </a:tcPr>
                </a:tc>
                <a:tc>
                  <a:txBody>
                    <a:bodyPr/>
                    <a:lstStyle/>
                    <a:p>
                      <a:r>
                        <a:rPr sz="1300">
                          <a:solidFill>
                            <a:srgbClr val="1F2937"/>
                          </a:solidFill>
                        </a:rPr>
                        <a:t>continuation</a:t>
                      </a:r>
                    </a:p>
                  </a:txBody>
                  <a:tcPr anchor="ctr" marL="60000" marR="60000" marT="20000" marB="20000">
                    <a:solidFill>
                      <a:srgbClr val="FFFFFF"/>
                    </a:solidFill>
                  </a:tcPr>
                </a:tc>
              </a:tr>
              <a:tr h="380000">
                <a:tc>
                  <a:txBody>
                    <a:bodyPr/>
                    <a:lstStyle/>
                    <a:p>
                      <a:r>
                        <a:rPr sz="1300">
                          <a:solidFill>
                            <a:srgbClr val="1F2937"/>
                          </a:solidFill>
                        </a:rPr>
                        <a:t>3</a:t>
                      </a:r>
                    </a:p>
                  </a:txBody>
                  <a:tcPr anchor="ctr" marL="60000" marR="60000" marT="20000" marB="20000">
                    <a:solidFill>
                      <a:srgbClr val="EFF6FF"/>
                    </a:solidFill>
                  </a:tcPr>
                </a:tc>
                <a:tc>
                  <a:txBody>
                    <a:bodyPr/>
                    <a:lstStyle/>
                    <a:p>
                      <a:r>
                        <a:rPr sz="1300">
                          <a:solidFill>
                            <a:srgbClr val="1F2937"/>
                          </a:solidFill>
                        </a:rPr>
                        <a:t>Fill-the-gap (kn_gap)</a:t>
                      </a:r>
                    </a:p>
                  </a:txBody>
                  <a:tcPr anchor="ctr" marL="60000" marR="60000" marT="20000" marB="20000">
                    <a:solidFill>
                      <a:srgbClr val="EFF6FF"/>
                    </a:solidFill>
                  </a:tcPr>
                </a:tc>
                <a:tc>
                  <a:txBody>
                    <a:bodyPr/>
                    <a:lstStyle/>
                    <a:p>
                      <a:r>
                        <a:rPr sz="1300">
                          <a:solidFill>
                            <a:srgbClr val="1F2937"/>
                          </a:solidFill>
                        </a:rPr>
                        <a:t>"Fill the blank in Article N."</a:t>
                      </a:r>
                    </a:p>
                  </a:txBody>
                  <a:tcPr anchor="ctr" marL="60000" marR="60000" marT="20000" marB="20000">
                    <a:solidFill>
                      <a:srgbClr val="EFF6FF"/>
                    </a:solidFill>
                  </a:tcPr>
                </a:tc>
                <a:tc>
                  <a:txBody>
                    <a:bodyPr/>
                    <a:lstStyle/>
                    <a:p>
                      <a:r>
                        <a:rPr sz="1300">
                          <a:solidFill>
                            <a:srgbClr val="1F2937"/>
                          </a:solidFill>
                        </a:rPr>
                        <a:t>local recall</a:t>
                      </a:r>
                    </a:p>
                  </a:txBody>
                  <a:tcPr anchor="ctr" marL="60000" marR="60000" marT="20000" marB="20000">
                    <a:solidFill>
                      <a:srgbClr val="EFF6FF"/>
                    </a:solidFill>
                  </a:tcPr>
                </a:tc>
              </a:tr>
              <a:tr h="380000">
                <a:tc>
                  <a:txBody>
                    <a:bodyPr/>
                    <a:lstStyle/>
                    <a:p>
                      <a:r>
                        <a:rPr sz="1300">
                          <a:solidFill>
                            <a:srgbClr val="1F2937"/>
                          </a:solidFill>
                        </a:rPr>
                        <a:t>4</a:t>
                      </a:r>
                    </a:p>
                  </a:txBody>
                  <a:tcPr anchor="ctr" marL="60000" marR="60000" marT="20000" marB="20000">
                    <a:solidFill>
                      <a:srgbClr val="FFFFFF"/>
                    </a:solidFill>
                  </a:tcPr>
                </a:tc>
                <a:tc>
                  <a:txBody>
                    <a:bodyPr/>
                    <a:lstStyle/>
                    <a:p>
                      <a:r>
                        <a:rPr sz="1300">
                          <a:solidFill>
                            <a:srgbClr val="1F2937"/>
                          </a:solidFill>
                        </a:rPr>
                        <a:t>Reverse lookup (kn_reverse)</a:t>
                      </a:r>
                    </a:p>
                  </a:txBody>
                  <a:tcPr anchor="ctr" marL="60000" marR="60000" marT="20000" marB="20000">
                    <a:solidFill>
                      <a:srgbClr val="FFFFFF"/>
                    </a:solidFill>
                  </a:tcPr>
                </a:tc>
                <a:tc>
                  <a:txBody>
                    <a:bodyPr/>
                    <a:lstStyle/>
                    <a:p>
                      <a:r>
                        <a:rPr sz="1300">
                          <a:solidFill>
                            <a:srgbClr val="1F2937"/>
                          </a:solidFill>
                        </a:rPr>
                        <a:t>"Which article says '…'?"</a:t>
                      </a:r>
                    </a:p>
                  </a:txBody>
                  <a:tcPr anchor="ctr" marL="60000" marR="60000" marT="20000" marB="20000">
                    <a:solidFill>
                      <a:srgbClr val="FFFFFF"/>
                    </a:solidFill>
                  </a:tcPr>
                </a:tc>
                <a:tc>
                  <a:txBody>
                    <a:bodyPr/>
                    <a:lstStyle/>
                    <a:p>
                      <a:r>
                        <a:rPr sz="1300">
                          <a:solidFill>
                            <a:srgbClr val="1F2937"/>
                          </a:solidFill>
                        </a:rPr>
                        <a:t>text → number</a:t>
                      </a:r>
                    </a:p>
                  </a:txBody>
                  <a:tcPr anchor="ctr" marL="60000" marR="60000" marT="20000" marB="20000">
                    <a:solidFill>
                      <a:srgbClr val="FFFFFF"/>
                    </a:solidFill>
                  </a:tcPr>
                </a:tc>
              </a:tr>
              <a:tr h="380000">
                <a:tc>
                  <a:txBody>
                    <a:bodyPr/>
                    <a:lstStyle/>
                    <a:p>
                      <a:r>
                        <a:rPr sz="1300">
                          <a:solidFill>
                            <a:srgbClr val="1F2937"/>
                          </a:solidFill>
                        </a:rPr>
                        <a:t>5</a:t>
                      </a:r>
                    </a:p>
                  </a:txBody>
                  <a:tcPr anchor="ctr" marL="60000" marR="60000" marT="20000" marB="20000">
                    <a:solidFill>
                      <a:srgbClr val="EFF6FF"/>
                    </a:solidFill>
                  </a:tcPr>
                </a:tc>
                <a:tc>
                  <a:txBody>
                    <a:bodyPr/>
                    <a:lstStyle/>
                    <a:p>
                      <a:r>
                        <a:rPr sz="1300">
                          <a:solidFill>
                            <a:srgbClr val="1F2937"/>
                          </a:solidFill>
                        </a:rPr>
                        <a:t>Placement (kn_placement)</a:t>
                      </a:r>
                    </a:p>
                  </a:txBody>
                  <a:tcPr anchor="ctr" marL="60000" marR="60000" marT="20000" marB="20000">
                    <a:solidFill>
                      <a:srgbClr val="EFF6FF"/>
                    </a:solidFill>
                  </a:tcPr>
                </a:tc>
                <a:tc>
                  <a:txBody>
                    <a:bodyPr/>
                    <a:lstStyle/>
                    <a:p>
                      <a:r>
                        <a:rPr sz="1300">
                          <a:solidFill>
                            <a:srgbClr val="1F2937"/>
                          </a:solidFill>
                        </a:rPr>
                        <a:t>"Which book/section is Article 319 in?"</a:t>
                      </a:r>
                    </a:p>
                  </a:txBody>
                  <a:tcPr anchor="ctr" marL="60000" marR="60000" marT="20000" marB="20000">
                    <a:solidFill>
                      <a:srgbClr val="EFF6FF"/>
                    </a:solidFill>
                  </a:tcPr>
                </a:tc>
                <a:tc>
                  <a:txBody>
                    <a:bodyPr/>
                    <a:lstStyle/>
                    <a:p>
                      <a:r>
                        <a:rPr sz="1300">
                          <a:solidFill>
                            <a:srgbClr val="1F2937"/>
                          </a:solidFill>
                        </a:rPr>
                        <a:t>structure</a:t>
                      </a:r>
                    </a:p>
                  </a:txBody>
                  <a:tcPr anchor="ctr" marL="60000" marR="60000" marT="20000" marB="20000">
                    <a:solidFill>
                      <a:srgbClr val="EFF6FF"/>
                    </a:solidFill>
                  </a:tcPr>
                </a:tc>
              </a:tr>
            </a:tbl>
          </a:graphicData>
        </a:graphic>
      </p:graphicFrame>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The 10 Knowledge Task Families (2 / 2)</a:t>
            </a:r>
          </a:p>
        </p:txBody>
      </p:sp>
      <p:graphicFrame>
        <p:nvGraphicFramePr>
          <p:cNvPr id="4" name="Table 3"/>
          <p:cNvGraphicFramePr>
            <a:graphicFrameLocks noGrp="1"/>
          </p:cNvGraphicFramePr>
          <p:nvPr/>
        </p:nvGraphicFramePr>
        <p:xfrm>
          <a:off x="530000" y="1450000"/>
          <a:ext cx="11132000" cy="2660000"/>
        </p:xfrm>
        <a:graphic>
          <a:graphicData uri="http://schemas.openxmlformats.org/drawingml/2006/table">
            <a:tbl>
              <a:tblPr firstRow="1" bandRow="1">
                <a:tableStyleId>{5C22544A-7EE6-4342-B048-85BDC9FD1C3A}</a:tableStyleId>
              </a:tblPr>
              <a:tblGrid>
                <a:gridCol w="2783000"/>
                <a:gridCol w="2783000"/>
                <a:gridCol w="2783000"/>
                <a:gridCol w="2783000"/>
              </a:tblGrid>
              <a:tr h="380000">
                <a:tc>
                  <a:txBody>
                    <a:bodyPr/>
                    <a:lstStyle/>
                    <a:p>
                      <a:r>
                        <a:rPr sz="1300" b="1">
                          <a:solidFill>
                            <a:srgbClr val="FFFFFF"/>
                          </a:solidFill>
                        </a:rPr>
                        <a:t>#</a:t>
                      </a:r>
                    </a:p>
                  </a:txBody>
                  <a:tcPr anchor="ctr" marL="60000" marR="60000" marT="20000" marB="20000">
                    <a:solidFill>
                      <a:srgbClr val="2563EB"/>
                    </a:solidFill>
                  </a:tcPr>
                </a:tc>
                <a:tc>
                  <a:txBody>
                    <a:bodyPr/>
                    <a:lstStyle/>
                    <a:p>
                      <a:r>
                        <a:rPr sz="1300" b="1">
                          <a:solidFill>
                            <a:srgbClr val="FFFFFF"/>
                          </a:solidFill>
                        </a:rPr>
                        <a:t>Family (kind)</a:t>
                      </a:r>
                    </a:p>
                  </a:txBody>
                  <a:tcPr anchor="ctr" marL="60000" marR="60000" marT="20000" marB="20000">
                    <a:solidFill>
                      <a:srgbClr val="2563EB"/>
                    </a:solidFill>
                  </a:tcPr>
                </a:tc>
                <a:tc>
                  <a:txBody>
                    <a:bodyPr/>
                    <a:lstStyle/>
                    <a:p>
                      <a:r>
                        <a:rPr sz="1300" b="1">
                          <a:solidFill>
                            <a:srgbClr val="FFFFFF"/>
                          </a:solidFill>
                        </a:rPr>
                        <a:t>Example prompt</a:t>
                      </a:r>
                    </a:p>
                  </a:txBody>
                  <a:tcPr anchor="ctr" marL="60000" marR="60000" marT="20000" marB="20000">
                    <a:solidFill>
                      <a:srgbClr val="2563EB"/>
                    </a:solidFill>
                  </a:tcPr>
                </a:tc>
                <a:tc>
                  <a:txBody>
                    <a:bodyPr/>
                    <a:lstStyle/>
                    <a:p>
                      <a:r>
                        <a:rPr sz="1300" b="1">
                          <a:solidFill>
                            <a:srgbClr val="FFFFFF"/>
                          </a:solidFill>
                        </a:rPr>
                        <a:t>Teaches</a:t>
                      </a:r>
                    </a:p>
                  </a:txBody>
                  <a:tcPr anchor="ctr" marL="60000" marR="60000" marT="20000" marB="20000">
                    <a:solidFill>
                      <a:srgbClr val="2563EB"/>
                    </a:solidFill>
                  </a:tcPr>
                </a:tc>
              </a:tr>
              <a:tr h="380000">
                <a:tc>
                  <a:txBody>
                    <a:bodyPr/>
                    <a:lstStyle/>
                    <a:p>
                      <a:r>
                        <a:rPr sz="1300">
                          <a:solidFill>
                            <a:srgbClr val="1F2937"/>
                          </a:solidFill>
                        </a:rPr>
                        <a:t>6</a:t>
                      </a:r>
                    </a:p>
                  </a:txBody>
                  <a:tcPr anchor="ctr" marL="60000" marR="60000" marT="20000" marB="20000">
                    <a:solidFill>
                      <a:srgbClr val="EFF6FF"/>
                    </a:solidFill>
                  </a:tcPr>
                </a:tc>
                <a:tc>
                  <a:txBody>
                    <a:bodyPr/>
                    <a:lstStyle/>
                    <a:p>
                      <a:r>
                        <a:rPr sz="1300">
                          <a:solidFill>
                            <a:srgbClr val="1F2937"/>
                          </a:solidFill>
                        </a:rPr>
                        <a:t>Translate (kn_translate)</a:t>
                      </a:r>
                    </a:p>
                  </a:txBody>
                  <a:tcPr anchor="ctr" marL="60000" marR="60000" marT="20000" marB="20000">
                    <a:solidFill>
                      <a:srgbClr val="EFF6FF"/>
                    </a:solidFill>
                  </a:tcPr>
                </a:tc>
                <a:tc>
                  <a:txBody>
                    <a:bodyPr/>
                    <a:lstStyle/>
                    <a:p>
                      <a:r>
                        <a:rPr sz="1300">
                          <a:solidFill>
                            <a:srgbClr val="1F2937"/>
                          </a:solidFill>
                        </a:rPr>
                        <a:t>"Translate Article 644 to English."</a:t>
                      </a:r>
                    </a:p>
                  </a:txBody>
                  <a:tcPr anchor="ctr" marL="60000" marR="60000" marT="20000" marB="20000">
                    <a:solidFill>
                      <a:srgbClr val="EFF6FF"/>
                    </a:solidFill>
                  </a:tcPr>
                </a:tc>
                <a:tc>
                  <a:txBody>
                    <a:bodyPr/>
                    <a:lstStyle/>
                    <a:p>
                      <a:r>
                        <a:rPr sz="1300">
                          <a:solidFill>
                            <a:srgbClr val="1F2937"/>
                          </a:solidFill>
                        </a:rPr>
                        <a:t>cross-lingual</a:t>
                      </a:r>
                    </a:p>
                  </a:txBody>
                  <a:tcPr anchor="ctr" marL="60000" marR="60000" marT="20000" marB="20000">
                    <a:solidFill>
                      <a:srgbClr val="EFF6FF"/>
                    </a:solidFill>
                  </a:tcPr>
                </a:tc>
              </a:tr>
              <a:tr h="380000">
                <a:tc>
                  <a:txBody>
                    <a:bodyPr/>
                    <a:lstStyle/>
                    <a:p>
                      <a:r>
                        <a:rPr sz="1300">
                          <a:solidFill>
                            <a:srgbClr val="1F2937"/>
                          </a:solidFill>
                        </a:rPr>
                        <a:t>7</a:t>
                      </a:r>
                    </a:p>
                  </a:txBody>
                  <a:tcPr anchor="ctr" marL="60000" marR="60000" marT="20000" marB="20000">
                    <a:solidFill>
                      <a:srgbClr val="FFFFFF"/>
                    </a:solidFill>
                  </a:tcPr>
                </a:tc>
                <a:tc>
                  <a:txBody>
                    <a:bodyPr/>
                    <a:lstStyle/>
                    <a:p>
                      <a:r>
                        <a:rPr sz="1300">
                          <a:solidFill>
                            <a:srgbClr val="1F2937"/>
                          </a:solidFill>
                        </a:rPr>
                        <a:t>Bilingual (kn_bilingual)</a:t>
                      </a:r>
                    </a:p>
                  </a:txBody>
                  <a:tcPr anchor="ctr" marL="60000" marR="60000" marT="20000" marB="20000">
                    <a:solidFill>
                      <a:srgbClr val="FFFFFF"/>
                    </a:solidFill>
                  </a:tcPr>
                </a:tc>
                <a:tc>
                  <a:txBody>
                    <a:bodyPr/>
                    <a:lstStyle/>
                    <a:p>
                      <a:r>
                        <a:rPr sz="1300">
                          <a:solidFill>
                            <a:srgbClr val="1F2937"/>
                          </a:solidFill>
                        </a:rPr>
                        <a:t>"Give Article 644 in Arabic and English."</a:t>
                      </a:r>
                    </a:p>
                  </a:txBody>
                  <a:tcPr anchor="ctr" marL="60000" marR="60000" marT="20000" marB="20000">
                    <a:solidFill>
                      <a:srgbClr val="FFFFFF"/>
                    </a:solidFill>
                  </a:tcPr>
                </a:tc>
                <a:tc>
                  <a:txBody>
                    <a:bodyPr/>
                    <a:lstStyle/>
                    <a:p>
                      <a:r>
                        <a:rPr sz="1300">
                          <a:solidFill>
                            <a:srgbClr val="1F2937"/>
                          </a:solidFill>
                        </a:rPr>
                        <a:t>both languages</a:t>
                      </a:r>
                    </a:p>
                  </a:txBody>
                  <a:tcPr anchor="ctr" marL="60000" marR="60000" marT="20000" marB="20000">
                    <a:solidFill>
                      <a:srgbClr val="FFFFFF"/>
                    </a:solidFill>
                  </a:tcPr>
                </a:tc>
              </a:tr>
              <a:tr h="380000">
                <a:tc>
                  <a:txBody>
                    <a:bodyPr/>
                    <a:lstStyle/>
                    <a:p>
                      <a:r>
                        <a:rPr sz="1300">
                          <a:solidFill>
                            <a:srgbClr val="1F2937"/>
                          </a:solidFill>
                        </a:rPr>
                        <a:t>8</a:t>
                      </a:r>
                    </a:p>
                  </a:txBody>
                  <a:tcPr anchor="ctr" marL="60000" marR="60000" marT="20000" marB="20000">
                    <a:solidFill>
                      <a:srgbClr val="EFF6FF"/>
                    </a:solidFill>
                  </a:tcPr>
                </a:tc>
                <a:tc>
                  <a:txBody>
                    <a:bodyPr/>
                    <a:lstStyle/>
                    <a:p>
                      <a:r>
                        <a:rPr sz="1300">
                          <a:solidFill>
                            <a:srgbClr val="1F2937"/>
                          </a:solidFill>
                        </a:rPr>
                        <a:t>Reference card (kn_card)</a:t>
                      </a:r>
                    </a:p>
                  </a:txBody>
                  <a:tcPr anchor="ctr" marL="60000" marR="60000" marT="20000" marB="20000">
                    <a:solidFill>
                      <a:srgbClr val="EFF6FF"/>
                    </a:solidFill>
                  </a:tcPr>
                </a:tc>
                <a:tc>
                  <a:txBody>
                    <a:bodyPr/>
                    <a:lstStyle/>
                    <a:p>
                      <a:r>
                        <a:rPr sz="1300">
                          <a:solidFill>
                            <a:srgbClr val="1F2937"/>
                          </a:solidFill>
                        </a:rPr>
                        <a:t>"Summarise Article 553 as a labelled card."</a:t>
                      </a:r>
                    </a:p>
                  </a:txBody>
                  <a:tcPr anchor="ctr" marL="60000" marR="60000" marT="20000" marB="20000">
                    <a:solidFill>
                      <a:srgbClr val="EFF6FF"/>
                    </a:solidFill>
                  </a:tcPr>
                </a:tc>
                <a:tc>
                  <a:txBody>
                    <a:bodyPr/>
                    <a:lstStyle/>
                    <a:p>
                      <a:r>
                        <a:rPr sz="1300">
                          <a:solidFill>
                            <a:srgbClr val="1F2937"/>
                          </a:solidFill>
                        </a:rPr>
                        <a:t>structured fact</a:t>
                      </a:r>
                    </a:p>
                  </a:txBody>
                  <a:tcPr anchor="ctr" marL="60000" marR="60000" marT="20000" marB="20000">
                    <a:solidFill>
                      <a:srgbClr val="EFF6FF"/>
                    </a:solidFill>
                  </a:tcPr>
                </a:tc>
              </a:tr>
              <a:tr h="380000">
                <a:tc>
                  <a:txBody>
                    <a:bodyPr/>
                    <a:lstStyle/>
                    <a:p>
                      <a:r>
                        <a:rPr sz="1300">
                          <a:solidFill>
                            <a:srgbClr val="1F2937"/>
                          </a:solidFill>
                        </a:rPr>
                        <a:t>9</a:t>
                      </a:r>
                    </a:p>
                  </a:txBody>
                  <a:tcPr anchor="ctr" marL="60000" marR="60000" marT="20000" marB="20000">
                    <a:solidFill>
                      <a:srgbClr val="FFFFFF"/>
                    </a:solidFill>
                  </a:tcPr>
                </a:tc>
                <a:tc>
                  <a:txBody>
                    <a:bodyPr/>
                    <a:lstStyle/>
                    <a:p>
                      <a:r>
                        <a:rPr sz="1300">
                          <a:solidFill>
                            <a:srgbClr val="1F2937"/>
                          </a:solidFill>
                        </a:rPr>
                        <a:t>Contrast (kn_contrast)</a:t>
                      </a:r>
                    </a:p>
                  </a:txBody>
                  <a:tcPr anchor="ctr" marL="60000" marR="60000" marT="20000" marB="20000">
                    <a:solidFill>
                      <a:srgbClr val="FFFFFF"/>
                    </a:solidFill>
                  </a:tcPr>
                </a:tc>
                <a:tc>
                  <a:txBody>
                    <a:bodyPr/>
                    <a:lstStyle/>
                    <a:p>
                      <a:r>
                        <a:rPr sz="1300">
                          <a:solidFill>
                            <a:srgbClr val="1F2937"/>
                          </a:solidFill>
                        </a:rPr>
                        <a:t>"Does Article 775 concern car insurance? — No, suretyship."</a:t>
                      </a:r>
                    </a:p>
                  </a:txBody>
                  <a:tcPr anchor="ctr" marL="60000" marR="60000" marT="20000" marB="20000">
                    <a:solidFill>
                      <a:srgbClr val="FFFFFF"/>
                    </a:solidFill>
                  </a:tcPr>
                </a:tc>
                <a:tc>
                  <a:txBody>
                    <a:bodyPr/>
                    <a:lstStyle/>
                    <a:p>
                      <a:r>
                        <a:rPr sz="1300">
                          <a:solidFill>
                            <a:srgbClr val="1F2937"/>
                          </a:solidFill>
                        </a:rPr>
                        <a:t>reject wrong pairings</a:t>
                      </a:r>
                    </a:p>
                  </a:txBody>
                  <a:tcPr anchor="ctr" marL="60000" marR="60000" marT="20000" marB="20000">
                    <a:solidFill>
                      <a:srgbClr val="FFFFFF"/>
                    </a:solidFill>
                  </a:tcPr>
                </a:tc>
              </a:tr>
              <a:tr h="380000">
                <a:tc>
                  <a:txBody>
                    <a:bodyPr/>
                    <a:lstStyle/>
                    <a:p>
                      <a:r>
                        <a:rPr sz="1300">
                          <a:solidFill>
                            <a:srgbClr val="1F2937"/>
                          </a:solidFill>
                        </a:rPr>
                        <a:t>10</a:t>
                      </a:r>
                    </a:p>
                  </a:txBody>
                  <a:tcPr anchor="ctr" marL="60000" marR="60000" marT="20000" marB="20000">
                    <a:solidFill>
                      <a:srgbClr val="EFF6FF"/>
                    </a:solidFill>
                  </a:tcPr>
                </a:tc>
                <a:tc>
                  <a:txBody>
                    <a:bodyPr/>
                    <a:lstStyle/>
                    <a:p>
                      <a:r>
                        <a:rPr sz="1300">
                          <a:solidFill>
                            <a:srgbClr val="1F2937"/>
                          </a:solidFill>
                        </a:rPr>
                        <a:t>Roster (kn_roster)</a:t>
                      </a:r>
                    </a:p>
                  </a:txBody>
                  <a:tcPr anchor="ctr" marL="60000" marR="60000" marT="20000" marB="20000">
                    <a:solidFill>
                      <a:srgbClr val="EFF6FF"/>
                    </a:solidFill>
                  </a:tcPr>
                </a:tc>
                <a:tc>
                  <a:txBody>
                    <a:bodyPr/>
                    <a:lstStyle/>
                    <a:p>
                      <a:r>
                        <a:rPr sz="1300">
                          <a:solidFill>
                            <a:srgbClr val="1F2937"/>
                          </a:solidFill>
                        </a:rPr>
                        <a:t>"Which articles deal with suretyship?"</a:t>
                      </a:r>
                    </a:p>
                  </a:txBody>
                  <a:tcPr anchor="ctr" marL="60000" marR="60000" marT="20000" marB="20000">
                    <a:solidFill>
                      <a:srgbClr val="EFF6FF"/>
                    </a:solidFill>
                  </a:tcPr>
                </a:tc>
                <a:tc>
                  <a:txBody>
                    <a:bodyPr/>
                    <a:lstStyle/>
                    <a:p>
                      <a:r>
                        <a:rPr sz="1300">
                          <a:solidFill>
                            <a:srgbClr val="1F2937"/>
                          </a:solidFill>
                        </a:rPr>
                        <a:t>topic → articles</a:t>
                      </a:r>
                    </a:p>
                  </a:txBody>
                  <a:tcPr anchor="ctr" marL="60000" marR="60000" marT="20000" marB="20000">
                    <a:solidFill>
                      <a:srgbClr val="EFF6FF"/>
                    </a:solidFill>
                  </a:tcPr>
                </a:tc>
              </a:tr>
              <a:tr h="380000">
                <a:tc>
                  <a:txBody>
                    <a:bodyPr/>
                    <a:lstStyle/>
                    <a:p>
                      <a:r>
                        <a:rPr sz="1300">
                          <a:solidFill>
                            <a:srgbClr val="1F2937"/>
                          </a:solidFill>
                        </a:rPr>
                        <a:t>+</a:t>
                      </a:r>
                    </a:p>
                  </a:txBody>
                  <a:tcPr anchor="ctr" marL="60000" marR="60000" marT="20000" marB="20000">
                    <a:solidFill>
                      <a:srgbClr val="FFFFFF"/>
                    </a:solidFill>
                  </a:tcPr>
                </a:tc>
                <a:tc>
                  <a:txBody>
                    <a:bodyPr/>
                    <a:lstStyle/>
                    <a:p>
                      <a:r>
                        <a:rPr sz="1300">
                          <a:solidFill>
                            <a:srgbClr val="1F2937"/>
                          </a:solidFill>
                        </a:rPr>
                        <a:t>Refusals (refusal)</a:t>
                      </a:r>
                    </a:p>
                  </a:txBody>
                  <a:tcPr anchor="ctr" marL="60000" marR="60000" marT="20000" marB="20000">
                    <a:solidFill>
                      <a:srgbClr val="FFFFFF"/>
                    </a:solidFill>
                  </a:tcPr>
                </a:tc>
                <a:tc>
                  <a:txBody>
                    <a:bodyPr/>
                    <a:lstStyle/>
                    <a:p>
                      <a:r>
                        <a:rPr sz="1300">
                          <a:solidFill>
                            <a:srgbClr val="1F2937"/>
                          </a:solidFill>
                        </a:rPr>
                        <a:t>unsafe asks</a:t>
                      </a:r>
                    </a:p>
                  </a:txBody>
                  <a:tcPr anchor="ctr" marL="60000" marR="60000" marT="20000" marB="20000">
                    <a:solidFill>
                      <a:srgbClr val="FFFFFF"/>
                    </a:solidFill>
                  </a:tcPr>
                </a:tc>
                <a:tc>
                  <a:txBody>
                    <a:bodyPr/>
                    <a:lstStyle/>
                    <a:p>
                      <a:r>
                        <a:rPr sz="1300">
                          <a:solidFill>
                            <a:srgbClr val="1F2937"/>
                          </a:solidFill>
                        </a:rPr>
                        <a:t>safety guardrail</a:t>
                      </a:r>
                    </a:p>
                  </a:txBody>
                  <a:tcPr anchor="ctr" marL="60000" marR="60000" marT="20000" marB="20000">
                    <a:solidFill>
                      <a:srgbClr val="FFFFFF"/>
                    </a:solidFill>
                  </a:tcPr>
                </a:tc>
              </a:tr>
            </a:tbl>
          </a:graphicData>
        </a:graphic>
      </p:graphicFrame>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House-style vs. Knowledge Pairs</a:t>
            </a:r>
          </a:p>
        </p:txBody>
      </p:sp>
      <p:graphicFrame>
        <p:nvGraphicFramePr>
          <p:cNvPr id="4" name="Table 3"/>
          <p:cNvGraphicFramePr>
            <a:graphicFrameLocks noGrp="1"/>
          </p:cNvGraphicFramePr>
          <p:nvPr/>
        </p:nvGraphicFramePr>
        <p:xfrm>
          <a:off x="530000" y="1450000"/>
          <a:ext cx="11132000" cy="2280000"/>
        </p:xfrm>
        <a:graphic>
          <a:graphicData uri="http://schemas.openxmlformats.org/drawingml/2006/table">
            <a:tbl>
              <a:tblPr firstRow="1" bandRow="1">
                <a:tableStyleId>{5C22544A-7EE6-4342-B048-85BDC9FD1C3A}</a:tableStyleId>
              </a:tblPr>
              <a:tblGrid>
                <a:gridCol w="3710666"/>
                <a:gridCol w="3710666"/>
                <a:gridCol w="3710668"/>
              </a:tblGrid>
              <a:tr h="380000">
                <a:tc>
                  <a:txBody>
                    <a:bodyPr/>
                    <a:lstStyle/>
                    <a:p>
                      <a:r>
                        <a:rPr sz="1300" b="1">
                          <a:solidFill>
                            <a:srgbClr val="FFFFFF"/>
                          </a:solidFill>
                        </a:rPr>
                        <a:t/>
                      </a:r>
                    </a:p>
                  </a:txBody>
                  <a:tcPr anchor="ctr" marL="60000" marR="60000" marT="20000" marB="20000">
                    <a:solidFill>
                      <a:srgbClr val="2563EB"/>
                    </a:solidFill>
                  </a:tcPr>
                </a:tc>
                <a:tc>
                  <a:txBody>
                    <a:bodyPr/>
                    <a:lstStyle/>
                    <a:p>
                      <a:r>
                        <a:rPr sz="1300" b="1">
                          <a:solidFill>
                            <a:srgbClr val="FFFFFF"/>
                          </a:solidFill>
                        </a:rPr>
                        <a:t>House-style (Stage B)</a:t>
                      </a:r>
                    </a:p>
                  </a:txBody>
                  <a:tcPr anchor="ctr" marL="60000" marR="60000" marT="20000" marB="20000">
                    <a:solidFill>
                      <a:srgbClr val="2563EB"/>
                    </a:solidFill>
                  </a:tcPr>
                </a:tc>
                <a:tc>
                  <a:txBody>
                    <a:bodyPr/>
                    <a:lstStyle/>
                    <a:p>
                      <a:r>
                        <a:rPr sz="1300" b="1">
                          <a:solidFill>
                            <a:srgbClr val="FFFFFF"/>
                          </a:solidFill>
                        </a:rPr>
                        <a:t>Knowledge (Stage A)</a:t>
                      </a:r>
                    </a:p>
                  </a:txBody>
                  <a:tcPr anchor="ctr" marL="60000" marR="60000" marT="20000" marB="20000">
                    <a:solidFill>
                      <a:srgbClr val="2563EB"/>
                    </a:solidFill>
                  </a:tcPr>
                </a:tc>
              </a:tr>
              <a:tr h="380000">
                <a:tc>
                  <a:txBody>
                    <a:bodyPr/>
                    <a:lstStyle/>
                    <a:p>
                      <a:r>
                        <a:rPr sz="1300">
                          <a:solidFill>
                            <a:srgbClr val="1F2937"/>
                          </a:solidFill>
                        </a:rPr>
                        <a:t>Question</a:t>
                      </a:r>
                    </a:p>
                  </a:txBody>
                  <a:tcPr anchor="ctr" marL="60000" marR="60000" marT="20000" marB="20000">
                    <a:solidFill>
                      <a:srgbClr val="EFF6FF"/>
                    </a:solidFill>
                  </a:tcPr>
                </a:tc>
                <a:tc>
                  <a:txBody>
                    <a:bodyPr/>
                    <a:lstStyle/>
                    <a:p>
                      <a:r>
                        <a:rPr sz="1300">
                          <a:solidFill>
                            <a:srgbClr val="1F2937"/>
                          </a:solidFill>
                        </a:rPr>
                        <a:t>"Explain Article N in plain language."</a:t>
                      </a:r>
                    </a:p>
                  </a:txBody>
                  <a:tcPr anchor="ctr" marL="60000" marR="60000" marT="20000" marB="20000">
                    <a:solidFill>
                      <a:srgbClr val="EFF6FF"/>
                    </a:solidFill>
                  </a:tcPr>
                </a:tc>
                <a:tc>
                  <a:txBody>
                    <a:bodyPr/>
                    <a:lstStyle/>
                    <a:p>
                      <a:r>
                        <a:rPr sz="1300">
                          <a:solidFill>
                            <a:srgbClr val="1F2937"/>
                          </a:solidFill>
                        </a:rPr>
                        <a:t>one of the 10 task families</a:t>
                      </a:r>
                    </a:p>
                  </a:txBody>
                  <a:tcPr anchor="ctr" marL="60000" marR="60000" marT="20000" marB="20000">
                    <a:solidFill>
                      <a:srgbClr val="EFF6FF"/>
                    </a:solidFill>
                  </a:tcPr>
                </a:tc>
              </a:tr>
              <a:tr h="380000">
                <a:tc>
                  <a:txBody>
                    <a:bodyPr/>
                    <a:lstStyle/>
                    <a:p>
                      <a:r>
                        <a:rPr sz="1300">
                          <a:solidFill>
                            <a:srgbClr val="1F2937"/>
                          </a:solidFill>
                        </a:rPr>
                        <a:t>Answer source</a:t>
                      </a:r>
                    </a:p>
                  </a:txBody>
                  <a:tcPr anchor="ctr" marL="60000" marR="60000" marT="20000" marB="20000">
                    <a:solidFill>
                      <a:srgbClr val="FFFFFF"/>
                    </a:solidFill>
                  </a:tcPr>
                </a:tc>
                <a:tc>
                  <a:txBody>
                    <a:bodyPr/>
                    <a:lstStyle/>
                    <a:p>
                      <a:r>
                        <a:rPr sz="1300">
                          <a:solidFill>
                            <a:srgbClr val="1F2937"/>
                          </a:solidFill>
                        </a:rPr>
                        <a:t>LLM paraphrase (~250 words)</a:t>
                      </a:r>
                    </a:p>
                  </a:txBody>
                  <a:tcPr anchor="ctr" marL="60000" marR="60000" marT="20000" marB="20000">
                    <a:solidFill>
                      <a:srgbClr val="FFFFFF"/>
                    </a:solidFill>
                  </a:tcPr>
                </a:tc>
                <a:tc>
                  <a:txBody>
                    <a:bodyPr/>
                    <a:lstStyle/>
                    <a:p>
                      <a:r>
                        <a:rPr sz="1300">
                          <a:solidFill>
                            <a:srgbClr val="1F2937"/>
                          </a:solidFill>
                        </a:rPr>
                        <a:t>raw corpus text (~30 words)</a:t>
                      </a:r>
                    </a:p>
                  </a:txBody>
                  <a:tcPr anchor="ctr" marL="60000" marR="60000" marT="20000" marB="20000">
                    <a:solidFill>
                      <a:srgbClr val="FFFFFF"/>
                    </a:solidFill>
                  </a:tcPr>
                </a:tc>
              </a:tr>
              <a:tr h="380000">
                <a:tc>
                  <a:txBody>
                    <a:bodyPr/>
                    <a:lstStyle/>
                    <a:p>
                      <a:r>
                        <a:rPr sz="1300">
                          <a:solidFill>
                            <a:srgbClr val="1F2937"/>
                          </a:solidFill>
                        </a:rPr>
                        <a:t>Teaches</a:t>
                      </a:r>
                    </a:p>
                  </a:txBody>
                  <a:tcPr anchor="ctr" marL="60000" marR="60000" marT="20000" marB="20000">
                    <a:solidFill>
                      <a:srgbClr val="EFF6FF"/>
                    </a:solidFill>
                  </a:tcPr>
                </a:tc>
                <a:tc>
                  <a:txBody>
                    <a:bodyPr/>
                    <a:lstStyle/>
                    <a:p>
                      <a:r>
                        <a:rPr sz="1300">
                          <a:solidFill>
                            <a:srgbClr val="1F2937"/>
                          </a:solidFill>
                        </a:rPr>
                        <a:t>output format</a:t>
                      </a:r>
                    </a:p>
                  </a:txBody>
                  <a:tcPr anchor="ctr" marL="60000" marR="60000" marT="20000" marB="20000">
                    <a:solidFill>
                      <a:srgbClr val="EFF6FF"/>
                    </a:solidFill>
                  </a:tcPr>
                </a:tc>
                <a:tc>
                  <a:txBody>
                    <a:bodyPr/>
                    <a:lstStyle/>
                    <a:p>
                      <a:r>
                        <a:rPr sz="1300">
                          <a:solidFill>
                            <a:srgbClr val="1F2937"/>
                          </a:solidFill>
                        </a:rPr>
                        <a:t>article content + number ↔ text binding</a:t>
                      </a:r>
                    </a:p>
                  </a:txBody>
                  <a:tcPr anchor="ctr" marL="60000" marR="60000" marT="20000" marB="20000">
                    <a:solidFill>
                      <a:srgbClr val="EFF6FF"/>
                    </a:solidFill>
                  </a:tcPr>
                </a:tc>
              </a:tr>
              <a:tr h="380000">
                <a:tc>
                  <a:txBody>
                    <a:bodyPr/>
                    <a:lstStyle/>
                    <a:p>
                      <a:r>
                        <a:rPr sz="1300">
                          <a:solidFill>
                            <a:srgbClr val="1F2937"/>
                          </a:solidFill>
                        </a:rPr>
                        <a:t>Article exposure / epoch</a:t>
                      </a:r>
                    </a:p>
                  </a:txBody>
                  <a:tcPr anchor="ctr" marL="60000" marR="60000" marT="20000" marB="20000">
                    <a:solidFill>
                      <a:srgbClr val="FFFFFF"/>
                    </a:solidFill>
                  </a:tcPr>
                </a:tc>
                <a:tc>
                  <a:txBody>
                    <a:bodyPr/>
                    <a:lstStyle/>
                    <a:p>
                      <a:r>
                        <a:rPr sz="1300">
                          <a:solidFill>
                            <a:srgbClr val="1F2937"/>
                          </a:solidFill>
                        </a:rPr>
                        <a:t>2×</a:t>
                      </a:r>
                    </a:p>
                  </a:txBody>
                  <a:tcPr anchor="ctr" marL="60000" marR="60000" marT="20000" marB="20000">
                    <a:solidFill>
                      <a:srgbClr val="FFFFFF"/>
                    </a:solidFill>
                  </a:tcPr>
                </a:tc>
                <a:tc>
                  <a:txBody>
                    <a:bodyPr/>
                    <a:lstStyle/>
                    <a:p>
                      <a:r>
                        <a:rPr sz="1300">
                          <a:solidFill>
                            <a:srgbClr val="1F2937"/>
                          </a:solidFill>
                        </a:rPr>
                        <a:t>~20×</a:t>
                      </a:r>
                    </a:p>
                  </a:txBody>
                  <a:tcPr anchor="ctr" marL="60000" marR="60000" marT="20000" marB="20000">
                    <a:solidFill>
                      <a:srgbClr val="FFFFFF"/>
                    </a:solidFill>
                  </a:tcPr>
                </a:tc>
              </a:tr>
              <a:tr h="380000">
                <a:tc>
                  <a:txBody>
                    <a:bodyPr/>
                    <a:lstStyle/>
                    <a:p>
                      <a:r>
                        <a:rPr sz="1300">
                          <a:solidFill>
                            <a:srgbClr val="1F2937"/>
                          </a:solidFill>
                        </a:rPr>
                        <a:t>Build cost</a:t>
                      </a:r>
                    </a:p>
                  </a:txBody>
                  <a:tcPr anchor="ctr" marL="60000" marR="60000" marT="20000" marB="20000">
                    <a:solidFill>
                      <a:srgbClr val="EFF6FF"/>
                    </a:solidFill>
                  </a:tcPr>
                </a:tc>
                <a:tc>
                  <a:txBody>
                    <a:bodyPr/>
                    <a:lstStyle/>
                    <a:p>
                      <a:r>
                        <a:rPr sz="1300">
                          <a:solidFill>
                            <a:srgbClr val="1F2937"/>
                          </a:solidFill>
                        </a:rPr>
                        <a:t>LLM API per article</a:t>
                      </a:r>
                    </a:p>
                  </a:txBody>
                  <a:tcPr anchor="ctr" marL="60000" marR="60000" marT="20000" marB="20000">
                    <a:solidFill>
                      <a:srgbClr val="EFF6FF"/>
                    </a:solidFill>
                  </a:tcPr>
                </a:tc>
                <a:tc>
                  <a:txBody>
                    <a:bodyPr/>
                    <a:lstStyle/>
                    <a:p>
                      <a:r>
                        <a:rPr sz="1300">
                          <a:solidFill>
                            <a:srgbClr val="1F2937"/>
                          </a:solidFill>
                        </a:rPr>
                        <a:t>free, deterministic</a:t>
                      </a:r>
                    </a:p>
                  </a:txBody>
                  <a:tcPr anchor="ctr" marL="60000" marR="60000" marT="20000" marB="20000">
                    <a:solidFill>
                      <a:srgbClr val="EFF6FF"/>
                    </a:solidFill>
                  </a:tcPr>
                </a:tc>
              </a:tr>
            </a:tbl>
          </a:graphicData>
        </a:graphic>
      </p:graphicFrame>
      <p:sp>
        <p:nvSpPr>
          <p:cNvPr id="5" name="TextBox 4"/>
          <p:cNvSpPr txBox="1"/>
          <p:nvPr/>
        </p:nvSpPr>
        <p:spPr>
          <a:xfrm>
            <a:off x="530000" y="6208000"/>
            <a:ext cx="11132000" cy="480000"/>
          </a:xfrm>
          <a:prstGeom prst="rect">
            <a:avLst/>
          </a:prstGeom>
          <a:noFill/>
        </p:spPr>
        <p:txBody>
          <a:bodyPr wrap="square">
            <a:spAutoFit/>
          </a:bodyPr>
          <a:lstStyle/>
          <a:p>
            <a:r>
              <a:rPr sz="1400" i="1">
                <a:solidFill>
                  <a:srgbClr val="2563EB"/>
                </a:solidFill>
              </a:rPr>
              <a:t>“Both are needed: what the law says (Stage A) and how we say it (Stage B).”</a:t>
            </a:r>
          </a:p>
        </p:txBody>
      </p:sp>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2 — Training Setup (Stage A v2)</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Base: Qwen2.5-3B-Instruct — 4-bit NF4 + double-quant, bf16 compute.</a:t>
            </a:r>
          </a:p>
          <a:p>
            <a:pPr>
              <a:spcAft>
                <a:spcPts val="600"/>
              </a:spcAft>
            </a:pPr>
            <a:r>
              <a:rPr sz="1800">
                <a:solidFill>
                  <a:srgbClr val="1F2937"/>
                </a:solidFill>
              </a:rPr>
              <a:t>• LoRA: r = 16 · α = 32 · dropout = 0 · 7 target modules → 29.9 M trainable params (0.96 %).</a:t>
            </a:r>
          </a:p>
          <a:p>
            <a:pPr>
              <a:spcAft>
                <a:spcPts val="600"/>
              </a:spcAft>
            </a:pPr>
            <a:r>
              <a:rPr sz="1800">
                <a:solidFill>
                  <a:srgbClr val="1F2937"/>
                </a:solidFill>
              </a:rPr>
              <a:t>• Engine: Unsloth — ~2× faster, ~50 % less VRAM → makes 3B QLoRA fit 6 GB.</a:t>
            </a:r>
          </a:p>
          <a:p>
            <a:pPr>
              <a:spcAft>
                <a:spcPts val="600"/>
              </a:spcAft>
            </a:pPr>
            <a:r>
              <a:rPr sz="1800">
                <a:solidFill>
                  <a:srgbClr val="1F2937"/>
                </a:solidFill>
              </a:rPr>
              <a:t>• Schedule: 4 epochs · lr 1e-4 cosine (3 % warm-up) · batch 1 × grad-accum 16 · max-seq 1,536 · paged_adamw_8bit.</a:t>
            </a:r>
          </a:p>
          <a:p>
            <a:pPr>
              <a:spcAft>
                <a:spcPts val="600"/>
              </a:spcAft>
            </a:pPr>
            <a:r>
              <a:rPr sz="1800">
                <a:solidFill>
                  <a:srgbClr val="1F2937"/>
                </a:solidFill>
              </a:rPr>
              <a:t>• Run: 5,420 steps · 15.0 h on the RTX 3050 (~9 s/step).</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Training Metrics — Train &amp; Eval Loss</a:t>
            </a:r>
          </a:p>
        </p:txBody>
      </p:sp>
      <p:pic>
        <p:nvPicPr>
          <p:cNvPr id="4" name="Picture 3" descr="loss_curve.png"/>
          <p:cNvPicPr>
            <a:picLocks noChangeAspect="1"/>
          </p:cNvPicPr>
          <p:nvPr/>
        </p:nvPicPr>
        <p:blipFill>
          <a:blip r:embed="rId2"/>
          <a:stretch>
            <a:fillRect/>
          </a:stretch>
        </p:blipFill>
        <p:spPr>
          <a:xfrm>
            <a:off x="1996000" y="1650000"/>
            <a:ext cx="8200000" cy="4555556"/>
          </a:xfrm>
          <a:prstGeom prst="rect">
            <a:avLst/>
          </a:prstGeom>
        </p:spPr>
      </p:pic>
      <p:sp>
        <p:nvSpPr>
          <p:cNvPr id="5" name="TextBox 4"/>
          <p:cNvSpPr txBox="1"/>
          <p:nvPr/>
        </p:nvSpPr>
        <p:spPr>
          <a:xfrm>
            <a:off x="530000" y="6158000"/>
            <a:ext cx="11132000" cy="500000"/>
          </a:xfrm>
          <a:prstGeom prst="rect">
            <a:avLst/>
          </a:prstGeom>
          <a:noFill/>
        </p:spPr>
        <p:txBody>
          <a:bodyPr wrap="square">
            <a:spAutoFit/>
          </a:bodyPr>
          <a:lstStyle/>
          <a:p>
            <a:pPr algn="ctr"/>
            <a:r>
              <a:rPr sz="1400">
                <a:solidFill>
                  <a:srgbClr val="475569"/>
                </a:solidFill>
              </a:rPr>
              <a:t>Train loss 3.51 → 0.10; eval-loss checkpoints fall monotonically across all 4 epochs.</a:t>
            </a:r>
          </a:p>
        </p:txBody>
      </p:sp>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Training Metrics — Per-Epoch Eval Loss</a:t>
            </a:r>
          </a:p>
        </p:txBody>
      </p:sp>
      <p:pic>
        <p:nvPicPr>
          <p:cNvPr id="4" name="Picture 3" descr="eval_summary.png"/>
          <p:cNvPicPr>
            <a:picLocks noChangeAspect="1"/>
          </p:cNvPicPr>
          <p:nvPr/>
        </p:nvPicPr>
        <p:blipFill>
          <a:blip r:embed="rId2"/>
          <a:stretch>
            <a:fillRect/>
          </a:stretch>
        </p:blipFill>
        <p:spPr>
          <a:xfrm>
            <a:off x="1996000" y="1650000"/>
            <a:ext cx="8200000" cy="4100000"/>
          </a:xfrm>
          <a:prstGeom prst="rect">
            <a:avLst/>
          </a:prstGeom>
        </p:spPr>
      </p:pic>
      <p:sp>
        <p:nvSpPr>
          <p:cNvPr id="5" name="TextBox 4"/>
          <p:cNvSpPr txBox="1"/>
          <p:nvPr/>
        </p:nvSpPr>
        <p:spPr>
          <a:xfrm>
            <a:off x="530000" y="6158000"/>
            <a:ext cx="11132000" cy="500000"/>
          </a:xfrm>
          <a:prstGeom prst="rect">
            <a:avLst/>
          </a:prstGeom>
          <a:noFill/>
        </p:spPr>
        <p:txBody>
          <a:bodyPr wrap="square">
            <a:spAutoFit/>
          </a:bodyPr>
          <a:lstStyle/>
          <a:p>
            <a:pPr algn="ctr"/>
            <a:r>
              <a:rPr sz="1400">
                <a:solidFill>
                  <a:srgbClr val="475569"/>
                </a:solidFill>
              </a:rPr>
              <a:t>0.397 → 0.193 → 0.161 → 0.159 — still improving at epoch 4 (the bigger base uses the extra capacity rather than overfitting).</a:t>
            </a:r>
          </a:p>
        </p:txBody>
      </p:sp>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Training Metrics — Learning-Rate Schedule</a:t>
            </a:r>
          </a:p>
        </p:txBody>
      </p:sp>
      <p:pic>
        <p:nvPicPr>
          <p:cNvPr id="4" name="Picture 3" descr="lr_schedule.png"/>
          <p:cNvPicPr>
            <a:picLocks noChangeAspect="1"/>
          </p:cNvPicPr>
          <p:nvPr/>
        </p:nvPicPr>
        <p:blipFill>
          <a:blip r:embed="rId2"/>
          <a:stretch>
            <a:fillRect/>
          </a:stretch>
        </p:blipFill>
        <p:spPr>
          <a:xfrm>
            <a:off x="1996000" y="1650000"/>
            <a:ext cx="8200000" cy="3644444"/>
          </a:xfrm>
          <a:prstGeom prst="rect">
            <a:avLst/>
          </a:prstGeom>
        </p:spPr>
      </p:pic>
      <p:sp>
        <p:nvSpPr>
          <p:cNvPr id="5" name="TextBox 4"/>
          <p:cNvSpPr txBox="1"/>
          <p:nvPr/>
        </p:nvSpPr>
        <p:spPr>
          <a:xfrm>
            <a:off x="530000" y="6158000"/>
            <a:ext cx="11132000" cy="500000"/>
          </a:xfrm>
          <a:prstGeom prst="rect">
            <a:avLst/>
          </a:prstGeom>
          <a:noFill/>
        </p:spPr>
        <p:txBody>
          <a:bodyPr wrap="square">
            <a:spAutoFit/>
          </a:bodyPr>
          <a:lstStyle/>
          <a:p>
            <a:pPr algn="ctr"/>
            <a:r>
              <a:rPr sz="1400">
                <a:solidFill>
                  <a:srgbClr val="475569"/>
                </a:solidFill>
              </a:rPr>
              <a:t>Cosine decay from 1e-4 after a 3 % warm-up.</a:t>
            </a:r>
          </a:p>
        </p:txBody>
      </p:sp>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Training Metrics — Gradient Norm</a:t>
            </a:r>
          </a:p>
        </p:txBody>
      </p:sp>
      <p:pic>
        <p:nvPicPr>
          <p:cNvPr id="4" name="Picture 3" descr="gradnorm.png"/>
          <p:cNvPicPr>
            <a:picLocks noChangeAspect="1"/>
          </p:cNvPicPr>
          <p:nvPr/>
        </p:nvPicPr>
        <p:blipFill>
          <a:blip r:embed="rId2"/>
          <a:stretch>
            <a:fillRect/>
          </a:stretch>
        </p:blipFill>
        <p:spPr>
          <a:xfrm>
            <a:off x="1996000" y="1650000"/>
            <a:ext cx="8200000" cy="3644444"/>
          </a:xfrm>
          <a:prstGeom prst="rect">
            <a:avLst/>
          </a:prstGeom>
        </p:spPr>
      </p:pic>
      <p:sp>
        <p:nvSpPr>
          <p:cNvPr id="5" name="TextBox 4"/>
          <p:cNvSpPr txBox="1"/>
          <p:nvPr/>
        </p:nvSpPr>
        <p:spPr>
          <a:xfrm>
            <a:off x="530000" y="6158000"/>
            <a:ext cx="11132000" cy="500000"/>
          </a:xfrm>
          <a:prstGeom prst="rect">
            <a:avLst/>
          </a:prstGeom>
          <a:noFill/>
        </p:spPr>
        <p:txBody>
          <a:bodyPr wrap="square">
            <a:spAutoFit/>
          </a:bodyPr>
          <a:lstStyle/>
          <a:p>
            <a:pPr algn="ctr"/>
            <a:r>
              <a:rPr sz="1400">
                <a:solidFill>
                  <a:srgbClr val="475569"/>
                </a:solidFill>
              </a:rPr>
              <a:t>Gradient norm settles 8.1 → ~0.5 — stable optimisation, no spikes over 15 hours.</a:t>
            </a:r>
          </a:p>
        </p:txBody>
      </p:sp>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2 — Closed-book Recall Results</a:t>
            </a:r>
          </a:p>
        </p:txBody>
      </p:sp>
      <p:sp>
        <p:nvSpPr>
          <p:cNvPr id="4" name="TextBox 3"/>
          <p:cNvSpPr txBox="1"/>
          <p:nvPr/>
        </p:nvSpPr>
        <p:spPr>
          <a:xfrm>
            <a:off x="530000" y="1400000"/>
            <a:ext cx="11132000" cy="550000"/>
          </a:xfrm>
          <a:prstGeom prst="rect">
            <a:avLst/>
          </a:prstGeom>
          <a:noFill/>
        </p:spPr>
        <p:txBody>
          <a:bodyPr wrap="square">
            <a:spAutoFit/>
          </a:bodyPr>
          <a:lstStyle/>
          <a:p>
            <a:r>
              <a:rPr sz="1500">
                <a:solidFill>
                  <a:srgbClr val="1F2937"/>
                </a:solidFill>
              </a:rPr>
              <a:t>Greedy decoding, no article in the prompt, vs. the bare 3B base:</a:t>
            </a:r>
          </a:p>
        </p:txBody>
      </p:sp>
      <p:graphicFrame>
        <p:nvGraphicFramePr>
          <p:cNvPr id="5" name="Table 4"/>
          <p:cNvGraphicFramePr>
            <a:graphicFrameLocks noGrp="1"/>
          </p:cNvGraphicFramePr>
          <p:nvPr/>
        </p:nvGraphicFramePr>
        <p:xfrm>
          <a:off x="530000" y="2050000"/>
          <a:ext cx="11132000" cy="1900000"/>
        </p:xfrm>
        <a:graphic>
          <a:graphicData uri="http://schemas.openxmlformats.org/drawingml/2006/table">
            <a:tbl>
              <a:tblPr firstRow="1" bandRow="1">
                <a:tableStyleId>{5C22544A-7EE6-4342-B048-85BDC9FD1C3A}</a:tableStyleId>
              </a:tblPr>
              <a:tblGrid>
                <a:gridCol w="2783000"/>
                <a:gridCol w="2783000"/>
                <a:gridCol w="2783000"/>
                <a:gridCol w="2783000"/>
              </a:tblGrid>
              <a:tr h="380000">
                <a:tc>
                  <a:txBody>
                    <a:bodyPr/>
                    <a:lstStyle/>
                    <a:p>
                      <a:r>
                        <a:rPr sz="1300" b="1">
                          <a:solidFill>
                            <a:srgbClr val="FFFFFF"/>
                          </a:solidFill>
                        </a:rPr>
                        <a:t>Metric (8 verbatim)</a:t>
                      </a:r>
                    </a:p>
                  </a:txBody>
                  <a:tcPr anchor="ctr" marL="60000" marR="60000" marT="20000" marB="20000">
                    <a:solidFill>
                      <a:srgbClr val="2563EB"/>
                    </a:solidFill>
                  </a:tcPr>
                </a:tc>
                <a:tc>
                  <a:txBody>
                    <a:bodyPr/>
                    <a:lstStyle/>
                    <a:p>
                      <a:r>
                        <a:rPr sz="1300" b="1">
                          <a:solidFill>
                            <a:srgbClr val="FFFFFF"/>
                          </a:solidFill>
                        </a:rPr>
                        <a:t>3B base</a:t>
                      </a:r>
                    </a:p>
                  </a:txBody>
                  <a:tcPr anchor="ctr" marL="60000" marR="60000" marT="20000" marB="20000">
                    <a:solidFill>
                      <a:srgbClr val="2563EB"/>
                    </a:solidFill>
                  </a:tcPr>
                </a:tc>
                <a:tc>
                  <a:txBody>
                    <a:bodyPr/>
                    <a:lstStyle/>
                    <a:p>
                      <a:r>
                        <a:rPr sz="1300" b="1">
                          <a:solidFill>
                            <a:srgbClr val="FFFFFF"/>
                          </a:solidFill>
                        </a:rPr>
                        <a:t>Stage A v2</a:t>
                      </a:r>
                    </a:p>
                  </a:txBody>
                  <a:tcPr anchor="ctr" marL="60000" marR="60000" marT="20000" marB="20000">
                    <a:solidFill>
                      <a:srgbClr val="2563EB"/>
                    </a:solidFill>
                  </a:tcPr>
                </a:tc>
                <a:tc>
                  <a:txBody>
                    <a:bodyPr/>
                    <a:lstStyle/>
                    <a:p>
                      <a:r>
                        <a:rPr sz="1300" b="1">
                          <a:solidFill>
                            <a:srgbClr val="FFFFFF"/>
                          </a:solidFill>
                        </a:rPr>
                        <a:t>Lift</a:t>
                      </a:r>
                    </a:p>
                  </a:txBody>
                  <a:tcPr anchor="ctr" marL="60000" marR="60000" marT="20000" marB="20000">
                    <a:solidFill>
                      <a:srgbClr val="2563EB"/>
                    </a:solidFill>
                  </a:tcPr>
                </a:tc>
              </a:tr>
              <a:tr h="380000">
                <a:tc>
                  <a:txBody>
                    <a:bodyPr/>
                    <a:lstStyle/>
                    <a:p>
                      <a:r>
                        <a:rPr sz="1300">
                          <a:solidFill>
                            <a:srgbClr val="1F2937"/>
                          </a:solidFill>
                        </a:rPr>
                        <a:t>Mean char-similarity</a:t>
                      </a:r>
                    </a:p>
                  </a:txBody>
                  <a:tcPr anchor="ctr" marL="60000" marR="60000" marT="20000" marB="20000">
                    <a:solidFill>
                      <a:srgbClr val="EFF6FF"/>
                    </a:solidFill>
                  </a:tcPr>
                </a:tc>
                <a:tc>
                  <a:txBody>
                    <a:bodyPr/>
                    <a:lstStyle/>
                    <a:p>
                      <a:r>
                        <a:rPr sz="1300">
                          <a:solidFill>
                            <a:srgbClr val="1F2937"/>
                          </a:solidFill>
                        </a:rPr>
                        <a:t>0.072</a:t>
                      </a:r>
                    </a:p>
                  </a:txBody>
                  <a:tcPr anchor="ctr" marL="60000" marR="60000" marT="20000" marB="20000">
                    <a:solidFill>
                      <a:srgbClr val="EFF6FF"/>
                    </a:solidFill>
                  </a:tcPr>
                </a:tc>
                <a:tc>
                  <a:txBody>
                    <a:bodyPr/>
                    <a:lstStyle/>
                    <a:p>
                      <a:r>
                        <a:rPr sz="1300">
                          <a:solidFill>
                            <a:srgbClr val="1F2937"/>
                          </a:solidFill>
                        </a:rPr>
                        <a:t>0.884</a:t>
                      </a:r>
                    </a:p>
                  </a:txBody>
                  <a:tcPr anchor="ctr" marL="60000" marR="60000" marT="20000" marB="20000">
                    <a:solidFill>
                      <a:srgbClr val="EFF6FF"/>
                    </a:solidFill>
                  </a:tcPr>
                </a:tc>
                <a:tc>
                  <a:txBody>
                    <a:bodyPr/>
                    <a:lstStyle/>
                    <a:p>
                      <a:r>
                        <a:rPr sz="1300">
                          <a:solidFill>
                            <a:srgbClr val="1F2937"/>
                          </a:solidFill>
                        </a:rPr>
                        <a:t>~12×</a:t>
                      </a:r>
                    </a:p>
                  </a:txBody>
                  <a:tcPr anchor="ctr" marL="60000" marR="60000" marT="20000" marB="20000">
                    <a:solidFill>
                      <a:srgbClr val="EFF6FF"/>
                    </a:solidFill>
                  </a:tcPr>
                </a:tc>
              </a:tr>
              <a:tr h="380000">
                <a:tc>
                  <a:txBody>
                    <a:bodyPr/>
                    <a:lstStyle/>
                    <a:p>
                      <a:r>
                        <a:rPr sz="1300">
                          <a:solidFill>
                            <a:srgbClr val="1F2937"/>
                          </a:solidFill>
                        </a:rPr>
                        <a:t>Mean token-recall</a:t>
                      </a:r>
                    </a:p>
                  </a:txBody>
                  <a:tcPr anchor="ctr" marL="60000" marR="60000" marT="20000" marB="20000">
                    <a:solidFill>
                      <a:srgbClr val="FFFFFF"/>
                    </a:solidFill>
                  </a:tcPr>
                </a:tc>
                <a:tc>
                  <a:txBody>
                    <a:bodyPr/>
                    <a:lstStyle/>
                    <a:p>
                      <a:r>
                        <a:rPr sz="1300">
                          <a:solidFill>
                            <a:srgbClr val="1F2937"/>
                          </a:solidFill>
                        </a:rPr>
                        <a:t>0.028</a:t>
                      </a:r>
                    </a:p>
                  </a:txBody>
                  <a:tcPr anchor="ctr" marL="60000" marR="60000" marT="20000" marB="20000">
                    <a:solidFill>
                      <a:srgbClr val="FFFFFF"/>
                    </a:solidFill>
                  </a:tcPr>
                </a:tc>
                <a:tc>
                  <a:txBody>
                    <a:bodyPr/>
                    <a:lstStyle/>
                    <a:p>
                      <a:r>
                        <a:rPr sz="1300">
                          <a:solidFill>
                            <a:srgbClr val="1F2937"/>
                          </a:solidFill>
                        </a:rPr>
                        <a:t>0.889</a:t>
                      </a:r>
                    </a:p>
                  </a:txBody>
                  <a:tcPr anchor="ctr" marL="60000" marR="60000" marT="20000" marB="20000">
                    <a:solidFill>
                      <a:srgbClr val="FFFFFF"/>
                    </a:solidFill>
                  </a:tcPr>
                </a:tc>
                <a:tc>
                  <a:txBody>
                    <a:bodyPr/>
                    <a:lstStyle/>
                    <a:p>
                      <a:r>
                        <a:rPr sz="1300">
                          <a:solidFill>
                            <a:srgbClr val="1F2937"/>
                          </a:solidFill>
                        </a:rPr>
                        <a:t>~32×</a:t>
                      </a:r>
                    </a:p>
                  </a:txBody>
                  <a:tcPr anchor="ctr" marL="60000" marR="60000" marT="20000" marB="20000">
                    <a:solidFill>
                      <a:srgbClr val="FFFFFF"/>
                    </a:solidFill>
                  </a:tcPr>
                </a:tc>
              </a:tr>
              <a:tr h="380000">
                <a:tc>
                  <a:txBody>
                    <a:bodyPr/>
                    <a:lstStyle/>
                    <a:p>
                      <a:r>
                        <a:rPr sz="1300">
                          <a:solidFill>
                            <a:srgbClr val="1F2937"/>
                          </a:solidFill>
                        </a:rPr>
                        <a:t>Articles char-perfect</a:t>
                      </a:r>
                    </a:p>
                  </a:txBody>
                  <a:tcPr anchor="ctr" marL="60000" marR="60000" marT="20000" marB="20000">
                    <a:solidFill>
                      <a:srgbClr val="EFF6FF"/>
                    </a:solidFill>
                  </a:tcPr>
                </a:tc>
                <a:tc>
                  <a:txBody>
                    <a:bodyPr/>
                    <a:lstStyle/>
                    <a:p>
                      <a:r>
                        <a:rPr sz="1300">
                          <a:solidFill>
                            <a:srgbClr val="1F2937"/>
                          </a:solidFill>
                        </a:rPr>
                        <a:t>0 / 8</a:t>
                      </a:r>
                    </a:p>
                  </a:txBody>
                  <a:tcPr anchor="ctr" marL="60000" marR="60000" marT="20000" marB="20000">
                    <a:solidFill>
                      <a:srgbClr val="EFF6FF"/>
                    </a:solidFill>
                  </a:tcPr>
                </a:tc>
                <a:tc>
                  <a:txBody>
                    <a:bodyPr/>
                    <a:lstStyle/>
                    <a:p>
                      <a:r>
                        <a:rPr sz="1300">
                          <a:solidFill>
                            <a:srgbClr val="1F2937"/>
                          </a:solidFill>
                        </a:rPr>
                        <a:t>7 / 8</a:t>
                      </a:r>
                    </a:p>
                  </a:txBody>
                  <a:tcPr anchor="ctr" marL="60000" marR="60000" marT="20000" marB="20000">
                    <a:solidFill>
                      <a:srgbClr val="EFF6FF"/>
                    </a:solidFill>
                  </a:tcPr>
                </a:tc>
                <a:tc>
                  <a:txBody>
                    <a:bodyPr/>
                    <a:lstStyle/>
                    <a:p>
                      <a:r>
                        <a:rPr sz="1300">
                          <a:solidFill>
                            <a:srgbClr val="1F2937"/>
                          </a:solidFill>
                        </a:rPr>
                        <a:t>—</a:t>
                      </a:r>
                    </a:p>
                  </a:txBody>
                  <a:tcPr anchor="ctr" marL="60000" marR="60000" marT="20000" marB="20000">
                    <a:solidFill>
                      <a:srgbClr val="EFF6FF"/>
                    </a:solidFill>
                  </a:tcPr>
                </a:tc>
              </a:tr>
              <a:tr h="380000">
                <a:tc>
                  <a:txBody>
                    <a:bodyPr/>
                    <a:lstStyle/>
                    <a:p>
                      <a:r>
                        <a:rPr sz="1300">
                          <a:solidFill>
                            <a:srgbClr val="1F2937"/>
                          </a:solidFill>
                        </a:rPr>
                        <a:t>Reverse lookups correct</a:t>
                      </a:r>
                    </a:p>
                  </a:txBody>
                  <a:tcPr anchor="ctr" marL="60000" marR="60000" marT="20000" marB="20000">
                    <a:solidFill>
                      <a:srgbClr val="FFFFFF"/>
                    </a:solidFill>
                  </a:tcPr>
                </a:tc>
                <a:tc>
                  <a:txBody>
                    <a:bodyPr/>
                    <a:lstStyle/>
                    <a:p>
                      <a:r>
                        <a:rPr sz="1300">
                          <a:solidFill>
                            <a:srgbClr val="1F2937"/>
                          </a:solidFill>
                        </a:rPr>
                        <a:t>0 / 3</a:t>
                      </a:r>
                    </a:p>
                  </a:txBody>
                  <a:tcPr anchor="ctr" marL="60000" marR="60000" marT="20000" marB="20000">
                    <a:solidFill>
                      <a:srgbClr val="FFFFFF"/>
                    </a:solidFill>
                  </a:tcPr>
                </a:tc>
                <a:tc>
                  <a:txBody>
                    <a:bodyPr/>
                    <a:lstStyle/>
                    <a:p>
                      <a:r>
                        <a:rPr sz="1300">
                          <a:solidFill>
                            <a:srgbClr val="1F2937"/>
                          </a:solidFill>
                        </a:rPr>
                        <a:t>1 / 3</a:t>
                      </a:r>
                    </a:p>
                  </a:txBody>
                  <a:tcPr anchor="ctr" marL="60000" marR="60000" marT="20000" marB="20000">
                    <a:solidFill>
                      <a:srgbClr val="FFFFFF"/>
                    </a:solidFill>
                  </a:tcPr>
                </a:tc>
                <a:tc>
                  <a:txBody>
                    <a:bodyPr/>
                    <a:lstStyle/>
                    <a:p>
                      <a:r>
                        <a:rPr sz="1300">
                          <a:solidFill>
                            <a:srgbClr val="1F2937"/>
                          </a:solidFill>
                        </a:rPr>
                        <a:t>first non-zero</a:t>
                      </a:r>
                    </a:p>
                  </a:txBody>
                  <a:tcPr anchor="ctr" marL="60000" marR="60000" marT="20000" marB="20000">
                    <a:solidFill>
                      <a:srgbClr val="FFFFFF"/>
                    </a:solidFill>
                  </a:tcPr>
                </a:tc>
              </a:tr>
            </a:tbl>
          </a:graphicData>
        </a:graphic>
      </p:graphicFrame>
      <p:sp>
        <p:nvSpPr>
          <p:cNvPr id="6" name="TextBox 5"/>
          <p:cNvSpPr txBox="1"/>
          <p:nvPr/>
        </p:nvSpPr>
        <p:spPr>
          <a:xfrm>
            <a:off x="530000" y="6208000"/>
            <a:ext cx="11132000" cy="480000"/>
          </a:xfrm>
          <a:prstGeom prst="rect">
            <a:avLst/>
          </a:prstGeom>
          <a:noFill/>
        </p:spPr>
        <p:txBody>
          <a:bodyPr wrap="square">
            <a:spAutoFit/>
          </a:bodyPr>
          <a:lstStyle/>
          <a:p>
            <a:r>
              <a:rPr sz="1400" i="1">
                <a:solidFill>
                  <a:srgbClr val="2563EB"/>
                </a:solidFill>
              </a:rPr>
              <a:t>“Per-article: Articles 17, 280, 775, 836, 990, 1068, 1112 → 1.00 char-sim. The "wrong-neighbour article" failure mode (v1) is solved on 7 / 8.”</a:t>
            </a:r>
          </a:p>
        </p:txBody>
      </p:sp>
      <p:sp>
        <p:nvSpPr>
          <p:cNvPr id="7" name="TextBox 6"/>
          <p:cNvSpPr txBox="1"/>
          <p:nvPr/>
        </p:nvSpPr>
        <p:spPr>
          <a:xfrm>
            <a:off x="11292000" y="6438000"/>
            <a:ext cx="700000" cy="300000"/>
          </a:xfrm>
          <a:prstGeom prst="rect">
            <a:avLst/>
          </a:prstGeom>
          <a:noFill/>
        </p:spPr>
        <p:txBody>
          <a:bodyPr wrap="none">
            <a:spAutoFit/>
          </a:bodyPr>
          <a:lstStyle/>
          <a:p>
            <a:pPr algn="r"/>
            <a:r>
              <a:rPr sz="1100">
                <a:solidFill>
                  <a:srgbClr val="475569"/>
                </a:solidFil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2 — LLM-as-Judge (closed-book, 21-case rubric)</a:t>
            </a:r>
          </a:p>
        </p:txBody>
      </p:sp>
      <p:graphicFrame>
        <p:nvGraphicFramePr>
          <p:cNvPr id="4" name="Table 3"/>
          <p:cNvGraphicFramePr>
            <a:graphicFrameLocks noGrp="1"/>
          </p:cNvGraphicFramePr>
          <p:nvPr/>
        </p:nvGraphicFramePr>
        <p:xfrm>
          <a:off x="530000" y="1450000"/>
          <a:ext cx="11132000" cy="1900000"/>
        </p:xfrm>
        <a:graphic>
          <a:graphicData uri="http://schemas.openxmlformats.org/drawingml/2006/table">
            <a:tbl>
              <a:tblPr firstRow="1" bandRow="1">
                <a:tableStyleId>{5C22544A-7EE6-4342-B048-85BDC9FD1C3A}</a:tableStyleId>
              </a:tblPr>
              <a:tblGrid>
                <a:gridCol w="3710666"/>
                <a:gridCol w="3710666"/>
                <a:gridCol w="3710668"/>
              </a:tblGrid>
              <a:tr h="380000">
                <a:tc>
                  <a:txBody>
                    <a:bodyPr/>
                    <a:lstStyle/>
                    <a:p>
                      <a:r>
                        <a:rPr sz="1300" b="1">
                          <a:solidFill>
                            <a:srgbClr val="FFFFFF"/>
                          </a:solidFill>
                        </a:rPr>
                        <a:t>Dimension (mean of 20)</a:t>
                      </a:r>
                    </a:p>
                  </a:txBody>
                  <a:tcPr anchor="ctr" marL="60000" marR="60000" marT="20000" marB="20000">
                    <a:solidFill>
                      <a:srgbClr val="2563EB"/>
                    </a:solidFill>
                  </a:tcPr>
                </a:tc>
                <a:tc>
                  <a:txBody>
                    <a:bodyPr/>
                    <a:lstStyle/>
                    <a:p>
                      <a:r>
                        <a:rPr sz="1300" b="1">
                          <a:solidFill>
                            <a:srgbClr val="FFFFFF"/>
                          </a:solidFill>
                        </a:rPr>
                        <a:t>Stage 0</a:t>
                      </a:r>
                    </a:p>
                  </a:txBody>
                  <a:tcPr anchor="ctr" marL="60000" marR="60000" marT="20000" marB="20000">
                    <a:solidFill>
                      <a:srgbClr val="2563EB"/>
                    </a:solidFill>
                  </a:tcPr>
                </a:tc>
                <a:tc>
                  <a:txBody>
                    <a:bodyPr/>
                    <a:lstStyle/>
                    <a:p>
                      <a:r>
                        <a:rPr sz="1300" b="1">
                          <a:solidFill>
                            <a:srgbClr val="FFFFFF"/>
                          </a:solidFill>
                        </a:rPr>
                        <a:t>Stage A v2</a:t>
                      </a:r>
                    </a:p>
                  </a:txBody>
                  <a:tcPr anchor="ctr" marL="60000" marR="60000" marT="20000" marB="20000">
                    <a:solidFill>
                      <a:srgbClr val="2563EB"/>
                    </a:solidFill>
                  </a:tcPr>
                </a:tc>
              </a:tr>
              <a:tr h="380000">
                <a:tc>
                  <a:txBody>
                    <a:bodyPr/>
                    <a:lstStyle/>
                    <a:p>
                      <a:r>
                        <a:rPr sz="1300">
                          <a:solidFill>
                            <a:srgbClr val="1F2937"/>
                          </a:solidFill>
                        </a:rPr>
                        <a:t>Legal accuracy</a:t>
                      </a:r>
                    </a:p>
                  </a:txBody>
                  <a:tcPr anchor="ctr" marL="60000" marR="60000" marT="20000" marB="20000">
                    <a:solidFill>
                      <a:srgbClr val="EFF6FF"/>
                    </a:solidFill>
                  </a:tcPr>
                </a:tc>
                <a:tc>
                  <a:txBody>
                    <a:bodyPr/>
                    <a:lstStyle/>
                    <a:p>
                      <a:r>
                        <a:rPr sz="1300">
                          <a:solidFill>
                            <a:srgbClr val="1F2937"/>
                          </a:solidFill>
                        </a:rPr>
                        <a:t>1.00</a:t>
                      </a:r>
                    </a:p>
                  </a:txBody>
                  <a:tcPr anchor="ctr" marL="60000" marR="60000" marT="20000" marB="20000">
                    <a:solidFill>
                      <a:srgbClr val="EFF6FF"/>
                    </a:solidFill>
                  </a:tcPr>
                </a:tc>
                <a:tc>
                  <a:txBody>
                    <a:bodyPr/>
                    <a:lstStyle/>
                    <a:p>
                      <a:r>
                        <a:rPr sz="1300">
                          <a:solidFill>
                            <a:srgbClr val="1F2937"/>
                          </a:solidFill>
                        </a:rPr>
                        <a:t>3.35</a:t>
                      </a:r>
                    </a:p>
                  </a:txBody>
                  <a:tcPr anchor="ctr" marL="60000" marR="60000" marT="20000" marB="20000">
                    <a:solidFill>
                      <a:srgbClr val="EFF6FF"/>
                    </a:solidFill>
                  </a:tcPr>
                </a:tc>
              </a:tr>
              <a:tr h="380000">
                <a:tc>
                  <a:txBody>
                    <a:bodyPr/>
                    <a:lstStyle/>
                    <a:p>
                      <a:r>
                        <a:rPr sz="1300">
                          <a:solidFill>
                            <a:srgbClr val="1F2937"/>
                          </a:solidFill>
                        </a:rPr>
                        <a:t>Faithfulness to article</a:t>
                      </a:r>
                    </a:p>
                  </a:txBody>
                  <a:tcPr anchor="ctr" marL="60000" marR="60000" marT="20000" marB="20000">
                    <a:solidFill>
                      <a:srgbClr val="FFFFFF"/>
                    </a:solidFill>
                  </a:tcPr>
                </a:tc>
                <a:tc>
                  <a:txBody>
                    <a:bodyPr/>
                    <a:lstStyle/>
                    <a:p>
                      <a:r>
                        <a:rPr sz="1300">
                          <a:solidFill>
                            <a:srgbClr val="1F2937"/>
                          </a:solidFill>
                        </a:rPr>
                        <a:t>1.00</a:t>
                      </a:r>
                    </a:p>
                  </a:txBody>
                  <a:tcPr anchor="ctr" marL="60000" marR="60000" marT="20000" marB="20000">
                    <a:solidFill>
                      <a:srgbClr val="FFFFFF"/>
                    </a:solidFill>
                  </a:tcPr>
                </a:tc>
                <a:tc>
                  <a:txBody>
                    <a:bodyPr/>
                    <a:lstStyle/>
                    <a:p>
                      <a:r>
                        <a:rPr sz="1300">
                          <a:solidFill>
                            <a:srgbClr val="1F2937"/>
                          </a:solidFill>
                        </a:rPr>
                        <a:t>3.25</a:t>
                      </a:r>
                    </a:p>
                  </a:txBody>
                  <a:tcPr anchor="ctr" marL="60000" marR="60000" marT="20000" marB="20000">
                    <a:solidFill>
                      <a:srgbClr val="FFFFFF"/>
                    </a:solidFill>
                  </a:tcPr>
                </a:tc>
              </a:tr>
              <a:tr h="380000">
                <a:tc>
                  <a:txBody>
                    <a:bodyPr/>
                    <a:lstStyle/>
                    <a:p>
                      <a:r>
                        <a:rPr sz="1300">
                          <a:solidFill>
                            <a:srgbClr val="1F2937"/>
                          </a:solidFill>
                        </a:rPr>
                        <a:t>Language quality</a:t>
                      </a:r>
                    </a:p>
                  </a:txBody>
                  <a:tcPr anchor="ctr" marL="60000" marR="60000" marT="20000" marB="20000">
                    <a:solidFill>
                      <a:srgbClr val="EFF6FF"/>
                    </a:solidFill>
                  </a:tcPr>
                </a:tc>
                <a:tc>
                  <a:txBody>
                    <a:bodyPr/>
                    <a:lstStyle/>
                    <a:p>
                      <a:r>
                        <a:rPr sz="1300">
                          <a:solidFill>
                            <a:srgbClr val="1F2937"/>
                          </a:solidFill>
                        </a:rPr>
                        <a:t>4.15</a:t>
                      </a:r>
                    </a:p>
                  </a:txBody>
                  <a:tcPr anchor="ctr" marL="60000" marR="60000" marT="20000" marB="20000">
                    <a:solidFill>
                      <a:srgbClr val="EFF6FF"/>
                    </a:solidFill>
                  </a:tcPr>
                </a:tc>
                <a:tc>
                  <a:txBody>
                    <a:bodyPr/>
                    <a:lstStyle/>
                    <a:p>
                      <a:r>
                        <a:rPr sz="1300">
                          <a:solidFill>
                            <a:srgbClr val="1F2937"/>
                          </a:solidFill>
                        </a:rPr>
                        <a:t>4.45</a:t>
                      </a:r>
                    </a:p>
                  </a:txBody>
                  <a:tcPr anchor="ctr" marL="60000" marR="60000" marT="20000" marB="20000">
                    <a:solidFill>
                      <a:srgbClr val="EFF6FF"/>
                    </a:solidFill>
                  </a:tcPr>
                </a:tc>
              </a:tr>
              <a:tr h="380000">
                <a:tc>
                  <a:txBody>
                    <a:bodyPr/>
                    <a:lstStyle/>
                    <a:p>
                      <a:r>
                        <a:rPr sz="1300">
                          <a:solidFill>
                            <a:srgbClr val="1F2937"/>
                          </a:solidFill>
                        </a:rPr>
                        <a:t>Pass rate (mean ≥ 3.5)</a:t>
                      </a:r>
                    </a:p>
                  </a:txBody>
                  <a:tcPr anchor="ctr" marL="60000" marR="60000" marT="20000" marB="20000">
                    <a:solidFill>
                      <a:srgbClr val="FFFFFF"/>
                    </a:solidFill>
                  </a:tcPr>
                </a:tc>
                <a:tc>
                  <a:txBody>
                    <a:bodyPr/>
                    <a:lstStyle/>
                    <a:p>
                      <a:r>
                        <a:rPr sz="1300">
                          <a:solidFill>
                            <a:srgbClr val="1F2937"/>
                          </a:solidFill>
                        </a:rPr>
                        <a:t>0 / 21</a:t>
                      </a:r>
                    </a:p>
                  </a:txBody>
                  <a:tcPr anchor="ctr" marL="60000" marR="60000" marT="20000" marB="20000">
                    <a:solidFill>
                      <a:srgbClr val="FFFFFF"/>
                    </a:solidFill>
                  </a:tcPr>
                </a:tc>
                <a:tc>
                  <a:txBody>
                    <a:bodyPr/>
                    <a:lstStyle/>
                    <a:p>
                      <a:r>
                        <a:rPr sz="1300">
                          <a:solidFill>
                            <a:srgbClr val="1F2937"/>
                          </a:solidFill>
                        </a:rPr>
                        <a:t>8 / 20 (40 %)</a:t>
                      </a:r>
                    </a:p>
                  </a:txBody>
                  <a:tcPr anchor="ctr" marL="60000" marR="60000" marT="20000" marB="20000">
                    <a:solidFill>
                      <a:srgbClr val="FFFFFF"/>
                    </a:solidFill>
                  </a:tcPr>
                </a:tc>
              </a:tr>
            </a:tbl>
          </a:graphicData>
        </a:graphic>
      </p:graphicFrame>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3 — Neo4j Graph RAG</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Retrieve from a knowledge graph + vector index.</a:t>
            </a:r>
          </a:p>
          <a:p>
            <a:pPr>
              <a:spcAft>
                <a:spcPts val="600"/>
              </a:spcAft>
            </a:pPr>
            <a:r>
              <a:rPr sz="1800">
                <a:solidFill>
                  <a:srgbClr val="1F2937"/>
                </a:solidFill>
              </a:rPr>
              <a:t>• Neo4j Aura: 1,093 Article nodes + Keyword / Section relations + a vector index.</a:t>
            </a:r>
          </a:p>
          <a:p>
            <a:pPr>
              <a:spcAft>
                <a:spcPts val="600"/>
              </a:spcAft>
            </a:pPr>
            <a:r>
              <a:rPr sz="1800">
                <a:solidFill>
                  <a:srgbClr val="1F2937"/>
                </a:solidFill>
              </a:rPr>
              <a:t>• Embeddings: BAAI/bge-m3 (multilingual, 1024-dim).</a:t>
            </a:r>
          </a:p>
          <a:p>
            <a:pPr>
              <a:spcAft>
                <a:spcPts val="600"/>
              </a:spcAft>
            </a:pPr>
            <a:r>
              <a:rPr sz="1800">
                <a:solidFill>
                  <a:srgbClr val="1F2937"/>
                </a:solidFill>
              </a:rPr>
              <a:t>• Hybrid retrieval: direct article lookup + keyword/section graph traversal + semantic vector search.</a:t>
            </a:r>
          </a:p>
          <a:p>
            <a:pPr>
              <a:spcAft>
                <a:spcPts val="600"/>
              </a:spcAft>
            </a:pPr>
            <a:r>
              <a:rPr sz="1800">
                <a:solidFill>
                  <a:srgbClr val="1F2937"/>
                </a:solidFill>
              </a:rPr>
              <a:t>• Re-ranking: 55 % semantic · 35 % keyword · 10 % direct-article bonus.</a:t>
            </a:r>
          </a:p>
          <a:p>
            <a:pPr>
              <a:spcAft>
                <a:spcPts val="600"/>
              </a:spcAft>
            </a:pPr>
            <a:r>
              <a:rPr sz="1800">
                <a:solidFill>
                  <a:srgbClr val="1F2937"/>
                </a:solidFill>
              </a:rPr>
              <a:t>• Answer LLM: Qwen2.5-3B-Instruct (Ollama). FastAPI service (apps/api).</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3 — In Action</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Q: "When is exercising a right considered unlawful?"</a:t>
            </a:r>
          </a:p>
          <a:p>
            <a:pPr>
              <a:spcAft>
                <a:spcPts val="600"/>
              </a:spcAft>
            </a:pPr>
            <a:r>
              <a:rPr sz="1800">
                <a:solidFill>
                  <a:srgbClr val="1F2937"/>
                </a:solidFill>
              </a:rPr>
              <a:t>• Metadata extraction → keywords, topics, article numbers (Qwen, JSON).</a:t>
            </a:r>
          </a:p>
          <a:p>
            <a:pPr>
              <a:spcAft>
                <a:spcPts val="600"/>
              </a:spcAft>
            </a:pPr>
            <a:r>
              <a:rPr sz="1800">
                <a:solidFill>
                  <a:srgbClr val="1F2937"/>
                </a:solidFill>
              </a:rPr>
              <a:t>• Hybrid retrieval → reranked top articles: [ 807 · 5 · 172 ].</a:t>
            </a:r>
          </a:p>
          <a:p>
            <a:pPr>
              <a:spcAft>
                <a:spcPts val="600"/>
              </a:spcAft>
            </a:pPr>
            <a:r>
              <a:rPr sz="1800">
                <a:solidFill>
                  <a:srgbClr val="1F2937"/>
                </a:solidFill>
              </a:rPr>
              <a:t>• Grounded answer (cites Article 5):</a:t>
            </a:r>
          </a:p>
          <a:p>
            <a:pPr>
              <a:spcAft>
                <a:spcPts val="600"/>
              </a:spcAft>
            </a:pPr>
            <a:r>
              <a:rPr sz="1800" i="1">
                <a:solidFill>
                  <a:srgbClr val="2563EB"/>
                </a:solidFill>
              </a:rPr>
              <a:t>“"According to Article 5, exercising a right is unlawful when: (a) the sole aim is to harm another; (b) the benefit is out of proportion to the harm; (c) the benefit is unlawful."”</a:t>
            </a:r>
          </a:p>
          <a:p>
            <a:pPr>
              <a:spcAft>
                <a:spcPts val="600"/>
              </a:spcAft>
            </a:pPr>
            <a:r>
              <a:rPr sz="1800">
                <a:solidFill>
                  <a:srgbClr val="1F2937"/>
                </a:solidFill>
              </a:rPr>
              <a:t>✅ Correct article, correct conditions, with a citation — ~60 s end-to-end on the laptop.</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4 — Bilingual Vector RAG</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Retrieve from a bilingual vector store. (converted from a Kaggle notebook → service)</a:t>
            </a:r>
          </a:p>
          <a:p>
            <a:pPr>
              <a:spcAft>
                <a:spcPts val="600"/>
              </a:spcAft>
            </a:pPr>
            <a:r>
              <a:rPr sz="1800">
                <a:solidFill>
                  <a:srgbClr val="1F2937"/>
                </a:solidFill>
              </a:rPr>
              <a:t>• BGE-M3 embeddings → Chroma persistent store (2,262 chunks, AR + EN).</a:t>
            </a:r>
          </a:p>
          <a:p>
            <a:pPr>
              <a:spcAft>
                <a:spcPts val="600"/>
              </a:spcAft>
            </a:pPr>
            <a:r>
              <a:rPr sz="1800">
                <a:solidFill>
                  <a:srgbClr val="1F2937"/>
                </a:solidFill>
              </a:rPr>
              <a:t>• Sentence-aware bilingual chunking; language-filtered search.</a:t>
            </a:r>
          </a:p>
          <a:p>
            <a:pPr>
              <a:spcAft>
                <a:spcPts val="600"/>
              </a:spcAft>
            </a:pPr>
            <a:r>
              <a:rPr sz="1800">
                <a:solidFill>
                  <a:srgbClr val="1F2937"/>
                </a:solidFill>
              </a:rPr>
              <a:t>• Cross-encoder re-ranking (multilingual mMiniLM) against the original question.</a:t>
            </a:r>
          </a:p>
          <a:p>
            <a:pPr>
              <a:spcAft>
                <a:spcPts val="600"/>
              </a:spcAft>
            </a:pPr>
            <a:r>
              <a:rPr sz="1800">
                <a:solidFill>
                  <a:srgbClr val="1F2937"/>
                </a:solidFill>
              </a:rPr>
              <a:t>• LLM keyword extraction → grounded bilingual prompt → Qwen2.5-3B answer.</a:t>
            </a:r>
          </a:p>
          <a:p>
            <a:pPr>
              <a:spcAft>
                <a:spcPts val="600"/>
              </a:spcAft>
            </a:pPr>
            <a:r>
              <a:rPr sz="1800">
                <a:solidFill>
                  <a:srgbClr val="1F2937"/>
                </a:solidFill>
              </a:rPr>
              <a:t>• apps/bilingual_rag/ — standalone Gradio + FastAPI.</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4 — In Action (and a lesson)</a:t>
            </a:r>
          </a:p>
        </p:txBody>
      </p:sp>
      <p:graphicFrame>
        <p:nvGraphicFramePr>
          <p:cNvPr id="4" name="Table 3"/>
          <p:cNvGraphicFramePr>
            <a:graphicFrameLocks noGrp="1"/>
          </p:cNvGraphicFramePr>
          <p:nvPr/>
        </p:nvGraphicFramePr>
        <p:xfrm>
          <a:off x="530000" y="1450000"/>
          <a:ext cx="11132000" cy="1140000"/>
        </p:xfrm>
        <a:graphic>
          <a:graphicData uri="http://schemas.openxmlformats.org/drawingml/2006/table">
            <a:tbl>
              <a:tblPr firstRow="1" bandRow="1">
                <a:tableStyleId>{5C22544A-7EE6-4342-B048-85BDC9FD1C3A}</a:tableStyleId>
              </a:tblPr>
              <a:tblGrid>
                <a:gridCol w="3710666"/>
                <a:gridCol w="3710666"/>
                <a:gridCol w="3710668"/>
              </a:tblGrid>
              <a:tr h="380000">
                <a:tc>
                  <a:txBody>
                    <a:bodyPr/>
                    <a:lstStyle/>
                    <a:p>
                      <a:r>
                        <a:rPr sz="1300" b="1">
                          <a:solidFill>
                            <a:srgbClr val="FFFFFF"/>
                          </a:solidFill>
                        </a:rPr>
                        <a:t>Question</a:t>
                      </a:r>
                    </a:p>
                  </a:txBody>
                  <a:tcPr anchor="ctr" marL="60000" marR="60000" marT="20000" marB="20000">
                    <a:solidFill>
                      <a:srgbClr val="2563EB"/>
                    </a:solidFill>
                  </a:tcPr>
                </a:tc>
                <a:tc>
                  <a:txBody>
                    <a:bodyPr/>
                    <a:lstStyle/>
                    <a:p>
                      <a:r>
                        <a:rPr sz="1300" b="1">
                          <a:solidFill>
                            <a:srgbClr val="FFFFFF"/>
                          </a:solidFill>
                        </a:rPr>
                        <a:t>Retrieved</a:t>
                      </a:r>
                    </a:p>
                  </a:txBody>
                  <a:tcPr anchor="ctr" marL="60000" marR="60000" marT="20000" marB="20000">
                    <a:solidFill>
                      <a:srgbClr val="2563EB"/>
                    </a:solidFill>
                  </a:tcPr>
                </a:tc>
                <a:tc>
                  <a:txBody>
                    <a:bodyPr/>
                    <a:lstStyle/>
                    <a:p>
                      <a:r>
                        <a:rPr sz="1300" b="1">
                          <a:solidFill>
                            <a:srgbClr val="FFFFFF"/>
                          </a:solidFill>
                        </a:rPr>
                        <a:t>Verdict</a:t>
                      </a:r>
                    </a:p>
                  </a:txBody>
                  <a:tcPr anchor="ctr" marL="60000" marR="60000" marT="20000" marB="20000">
                    <a:solidFill>
                      <a:srgbClr val="2563EB"/>
                    </a:solidFill>
                  </a:tcPr>
                </a:tc>
              </a:tr>
              <a:tr h="380000">
                <a:tc>
                  <a:txBody>
                    <a:bodyPr/>
                    <a:lstStyle/>
                    <a:p>
                      <a:r>
                        <a:rPr sz="1300">
                          <a:solidFill>
                            <a:srgbClr val="1F2937"/>
                          </a:solidFill>
                        </a:rPr>
                        <a:t>"What rules apply when there is no written law?" (EN)</a:t>
                      </a:r>
                    </a:p>
                  </a:txBody>
                  <a:tcPr anchor="ctr" marL="60000" marR="60000" marT="20000" marB="20000">
                    <a:solidFill>
                      <a:srgbClr val="EFF6FF"/>
                    </a:solidFill>
                  </a:tcPr>
                </a:tc>
                <a:tc>
                  <a:txBody>
                    <a:bodyPr/>
                    <a:lstStyle/>
                    <a:p>
                      <a:r>
                        <a:rPr sz="1300">
                          <a:solidFill>
                            <a:srgbClr val="1F2937"/>
                          </a:solidFill>
                        </a:rPr>
                        <a:t>[ 1 · 26 · 200 ] — Article 1 is exactly the answer</a:t>
                      </a:r>
                    </a:p>
                  </a:txBody>
                  <a:tcPr anchor="ctr" marL="60000" marR="60000" marT="20000" marB="20000">
                    <a:solidFill>
                      <a:srgbClr val="EFF6FF"/>
                    </a:solidFill>
                  </a:tcPr>
                </a:tc>
                <a:tc>
                  <a:txBody>
                    <a:bodyPr/>
                    <a:lstStyle/>
                    <a:p>
                      <a:r>
                        <a:rPr sz="1300">
                          <a:solidFill>
                            <a:srgbClr val="1F2937"/>
                          </a:solidFill>
                        </a:rPr>
                        <a:t>✅ retrieval</a:t>
                      </a:r>
                    </a:p>
                  </a:txBody>
                  <a:tcPr anchor="ctr" marL="60000" marR="60000" marT="20000" marB="20000">
                    <a:solidFill>
                      <a:srgbClr val="EFF6FF"/>
                    </a:solidFill>
                  </a:tcPr>
                </a:tc>
              </a:tr>
              <a:tr h="380000">
                <a:tc>
                  <a:txBody>
                    <a:bodyPr/>
                    <a:lstStyle/>
                    <a:p>
                      <a:r>
                        <a:rPr sz="1300">
                          <a:solidFill>
                            <a:srgbClr val="1F2937"/>
                          </a:solidFill>
                        </a:rPr>
                        <a:t>"ما هي شروط استعمال الحق بشكل مشروع؟" (AR)</a:t>
                      </a:r>
                    </a:p>
                  </a:txBody>
                  <a:tcPr anchor="ctr" marL="60000" marR="60000" marT="20000" marB="20000">
                    <a:solidFill>
                      <a:srgbClr val="FFFFFF"/>
                    </a:solidFill>
                  </a:tcPr>
                </a:tc>
                <a:tc>
                  <a:txBody>
                    <a:bodyPr/>
                    <a:lstStyle/>
                    <a:p>
                      <a:r>
                        <a:rPr sz="1300">
                          <a:solidFill>
                            <a:srgbClr val="1F2937"/>
                          </a:solidFill>
                        </a:rPr>
                        <a:t>[ 4 · 5 · 823 ] — the right-exercise articles</a:t>
                      </a:r>
                    </a:p>
                  </a:txBody>
                  <a:tcPr anchor="ctr" marL="60000" marR="60000" marT="20000" marB="20000">
                    <a:solidFill>
                      <a:srgbClr val="FFFFFF"/>
                    </a:solidFill>
                  </a:tcPr>
                </a:tc>
                <a:tc>
                  <a:txBody>
                    <a:bodyPr/>
                    <a:lstStyle/>
                    <a:p>
                      <a:r>
                        <a:rPr sz="1300">
                          <a:solidFill>
                            <a:srgbClr val="1F2937"/>
                          </a:solidFill>
                        </a:rPr>
                        <a:t>✅ retrieval</a:t>
                      </a:r>
                    </a:p>
                  </a:txBody>
                  <a:tcPr anchor="ctr" marL="60000" marR="60000" marT="20000" marB="20000">
                    <a:solidFill>
                      <a:srgbClr val="FFFFFF"/>
                    </a:solidFill>
                  </a:tcPr>
                </a:tc>
              </a:tr>
            </a:tbl>
          </a:graphicData>
        </a:graphic>
      </p:graphicFrame>
      <p:sp>
        <p:nvSpPr>
          <p:cNvPr id="5" name="TextBox 4"/>
          <p:cNvSpPr txBox="1"/>
          <p:nvPr/>
        </p:nvSpPr>
        <p:spPr>
          <a:xfrm>
            <a:off x="530000" y="6208000"/>
            <a:ext cx="11132000" cy="480000"/>
          </a:xfrm>
          <a:prstGeom prst="rect">
            <a:avLst/>
          </a:prstGeom>
          <a:noFill/>
        </p:spPr>
        <p:txBody>
          <a:bodyPr wrap="square">
            <a:spAutoFit/>
          </a:bodyPr>
          <a:lstStyle/>
          <a:p>
            <a:r>
              <a:rPr sz="1400" i="1">
                <a:solidFill>
                  <a:srgbClr val="2563EB"/>
                </a:solidFill>
              </a:rPr>
              <a:t>“🔑 Lesson: the bottleneck is the small answer model, not retrieval.”</a:t>
            </a:r>
          </a:p>
        </p:txBody>
      </p:sp>
      <p:sp>
        <p:nvSpPr>
          <p:cNvPr id="6" name="TextBox 5"/>
          <p:cNvSpPr txBox="1"/>
          <p:nvPr/>
        </p:nvSpPr>
        <p:spPr>
          <a:xfrm>
            <a:off x="11292000" y="6438000"/>
            <a:ext cx="700000" cy="300000"/>
          </a:xfrm>
          <a:prstGeom prst="rect">
            <a:avLst/>
          </a:prstGeom>
          <a:noFill/>
        </p:spPr>
        <p:txBody>
          <a:bodyPr wrap="none">
            <a:spAutoFit/>
          </a:bodyPr>
          <a:lstStyle/>
          <a:p>
            <a:pPr algn="r"/>
            <a:r>
              <a:rPr sz="1100">
                <a:solidFill>
                  <a:srgbClr val="475569"/>
                </a:solidFil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5 — Multi-Agent</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Orchestrated reasoning with tools.</a:t>
            </a:r>
          </a:p>
          <a:p>
            <a:pPr>
              <a:spcAft>
                <a:spcPts val="600"/>
              </a:spcAft>
            </a:pPr>
            <a:r>
              <a:rPr sz="1800">
                <a:solidFill>
                  <a:srgbClr val="1F2937"/>
                </a:solidFill>
              </a:rPr>
              <a:t>• LangGraph state machine: safety → router → subagents → tools → synthesis.</a:t>
            </a:r>
          </a:p>
          <a:p>
            <a:pPr>
              <a:spcAft>
                <a:spcPts val="600"/>
              </a:spcAft>
            </a:pPr>
            <a:r>
              <a:rPr sz="1800">
                <a:solidFill>
                  <a:srgbClr val="1F2937"/>
                </a:solidFill>
              </a:rPr>
              <a:t>• Router classifies simple / medium / complex and dispatches Researcher / Explainer / Comparator subagents.</a:t>
            </a:r>
          </a:p>
          <a:p>
            <a:pPr>
              <a:spcAft>
                <a:spcPts val="600"/>
              </a:spcAft>
            </a:pPr>
            <a:r>
              <a:rPr sz="1800">
                <a:solidFill>
                  <a:srgbClr val="1F2937"/>
                </a:solidFill>
              </a:rPr>
              <a:t>• Tools: glossary, statute lookup, LightRAG graph search, web search — built on the Claude Agent SDK (served via a glm-5 gateway).</a:t>
            </a:r>
          </a:p>
          <a:p>
            <a:pPr>
              <a:spcAft>
                <a:spcPts val="600"/>
              </a:spcAft>
            </a:pPr>
            <a:r>
              <a:rPr sz="1800">
                <a:solidFill>
                  <a:srgbClr val="1F2937"/>
                </a:solidFill>
              </a:rPr>
              <a:t>• Knowledge graph: ≈2,164 articles, ≈1,285 entities, ≈1,474 relations (NanoVectorDB + Ollama Qwen3 embeddings).</a:t>
            </a:r>
          </a:p>
          <a:p>
            <a:pPr>
              <a:spcAft>
                <a:spcPts val="600"/>
              </a:spcAft>
            </a:pPr>
            <a:r>
              <a:rPr sz="1800">
                <a:solidFill>
                  <a:srgbClr val="1F2937"/>
                </a:solidFill>
              </a:rPr>
              <a:t>• Gradio UI streams a live flow trace (every routing decision, subagent, tool call, cost).</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5 — In Action (live trace)</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Q: "What is force majeure in Egyptian civil law?"</a:t>
            </a:r>
          </a:p>
          <a:p/>
          <a:p>
            <a:r>
              <a:rPr sz="1400">
                <a:solidFill>
                  <a:srgbClr val="475569"/>
                </a:solidFill>
                <a:latin typeface="Consolas"/>
              </a:rPr>
              <a:t>💬 query    → "What is force majeure…"</a:t>
            </a:r>
          </a:p>
          <a:p>
            <a:r>
              <a:rPr sz="1400">
                <a:solidFill>
                  <a:srgbClr val="475569"/>
                </a:solidFill>
                <a:latin typeface="Consolas"/>
              </a:rPr>
              <a:t>🛡️ safety   → allow</a:t>
            </a:r>
          </a:p>
          <a:p>
            <a:r>
              <a:rPr sz="1400">
                <a:solidFill>
                  <a:srgbClr val="475569"/>
                </a:solidFill>
                <a:latin typeface="Consolas"/>
              </a:rPr>
              <a:t>🧭 route    → simple   (LLM classifier)</a:t>
            </a:r>
          </a:p>
          <a:p>
            <a:r>
              <a:rPr sz="1400">
                <a:solidFill>
                  <a:srgbClr val="475569"/>
                </a:solidFill>
                <a:latin typeface="Consolas"/>
              </a:rPr>
              <a:t>🔧 tool     → get_legal_definition(term="force_majeure")</a:t>
            </a:r>
          </a:p>
          <a:p>
            <a:r>
              <a:rPr sz="1400">
                <a:solidFill>
                  <a:srgbClr val="475569"/>
                </a:solidFill>
                <a:latin typeface="Consolas"/>
              </a:rPr>
              <a:t>🏁 done     → path=simple · 28.9 s</a:t>
            </a:r>
          </a:p>
          <a:p>
            <a:pPr>
              <a:spcAft>
                <a:spcPts val="600"/>
              </a:spcAft>
            </a:pPr>
            <a:r>
              <a:rPr sz="1800">
                <a:solidFill>
                  <a:srgbClr val="1F2937"/>
                </a:solidFill>
              </a:rPr>
              <a:t>Answer (bilingual):</a:t>
            </a:r>
          </a:p>
          <a:p>
            <a:pPr>
              <a:spcAft>
                <a:spcPts val="600"/>
              </a:spcAft>
            </a:pPr>
            <a:r>
              <a:rPr sz="1800" i="1">
                <a:solidFill>
                  <a:srgbClr val="2563EB"/>
                </a:solidFill>
              </a:rPr>
              <a:t>“force majeure — an unforeseeable, unavoidable event outside the parties' control (natural disaster, war) that excuses non-performance.”</a:t>
            </a:r>
          </a:p>
          <a:p>
            <a:pPr>
              <a:spcAft>
                <a:spcPts val="600"/>
              </a:spcAft>
            </a:pPr>
            <a:r>
              <a:rPr sz="1800" i="1">
                <a:solidFill>
                  <a:srgbClr val="2563EB"/>
                </a:solidFill>
              </a:rPr>
              <a:t>“قوة قاهرة — حادث غير متوقع لا يمكن دفعه ويخرج عن إرادة المتعاقدين…”</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6 — Combined Pipeline</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The best of three projects, fused.</a:t>
            </a:r>
          </a:p>
          <a:p/>
          <a:p>
            <a:r>
              <a:rPr sz="1400">
                <a:solidFill>
                  <a:srgbClr val="475569"/>
                </a:solidFill>
                <a:latin typeface="Consolas"/>
              </a:rPr>
              <a:t>question</a:t>
            </a:r>
          </a:p>
          <a:p>
            <a:r>
              <a:rPr sz="1400">
                <a:solidFill>
                  <a:srgbClr val="475569"/>
                </a:solidFill>
                <a:latin typeface="Consolas"/>
              </a:rPr>
              <a:t>  → legal system prompt + safety gate     (Project 1)</a:t>
            </a:r>
          </a:p>
          <a:p>
            <a:r>
              <a:rPr sz="1400">
                <a:solidFill>
                  <a:srgbClr val="475569"/>
                </a:solidFill>
                <a:latin typeface="Consolas"/>
              </a:rPr>
              <a:t>  → Neo4j graph retrieval (top-k articles) (Project 3)</a:t>
            </a:r>
          </a:p>
          <a:p>
            <a:r>
              <a:rPr sz="1400">
                <a:solidFill>
                  <a:srgbClr val="475569"/>
                </a:solidFill>
                <a:latin typeface="Consolas"/>
              </a:rPr>
              <a:t>  → answer written by the FINE-TUNED model (Project 2)</a:t>
            </a:r>
          </a:p>
          <a:p>
            <a:pPr>
              <a:spcAft>
                <a:spcPts val="600"/>
              </a:spcAft>
            </a:pPr>
            <a:r>
              <a:rPr sz="1800">
                <a:solidFill>
                  <a:srgbClr val="1F2937"/>
                </a:solidFill>
              </a:rPr>
              <a:t>• The graph RAG fetches the law; the fine-tuned knowledge model writes the grounded, cited answer — instead of a generic LLM.</a:t>
            </a:r>
          </a:p>
          <a:p>
            <a:pPr>
              <a:spcAft>
                <a:spcPts val="600"/>
              </a:spcAft>
            </a:pPr>
            <a:r>
              <a:rPr sz="1800">
                <a:solidFill>
                  <a:srgbClr val="1F2937"/>
                </a:solidFill>
              </a:rPr>
              <a:t>• Self-contained project apps/legal_graphrag_finetuned/ (pipeline + Gradio + FastAPI), one process.</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 6 — In Action (the standout result)</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Q: "When is exercising a right considered unlawful?"</a:t>
            </a:r>
          </a:p>
          <a:p>
            <a:pPr>
              <a:spcAft>
                <a:spcPts val="600"/>
              </a:spcAft>
            </a:pPr>
            <a:r>
              <a:rPr sz="1800">
                <a:solidFill>
                  <a:srgbClr val="1F2937"/>
                </a:solidFill>
              </a:rPr>
              <a:t>• Graph RAG retrieved [ 807 · 5 · 172 ] → fed to the fine-tuned model.</a:t>
            </a:r>
          </a:p>
          <a:p>
            <a:pPr>
              <a:spcAft>
                <a:spcPts val="600"/>
              </a:spcAft>
            </a:pPr>
            <a:r>
              <a:rPr sz="1800">
                <a:solidFill>
                  <a:srgbClr val="1F2937"/>
                </a:solidFill>
              </a:rPr>
              <a:t>• The fine-tuned model wrote a correct, structured, bilingual answer:</a:t>
            </a:r>
          </a:p>
          <a:p>
            <a:pPr>
              <a:spcAft>
                <a:spcPts val="600"/>
              </a:spcAft>
            </a:pPr>
            <a:r>
              <a:rPr sz="1800" i="1">
                <a:solidFill>
                  <a:srgbClr val="2563EB"/>
                </a:solidFill>
              </a:rPr>
              <a:t>“EN: "The exercise of a right is unlawful when: (a) the sole aim is to harm another; (b) the benefit is out of proportion to the harm; (c) the benefit is unlawful."”</a:t>
            </a:r>
          </a:p>
          <a:p>
            <a:pPr>
              <a:spcAft>
                <a:spcPts val="600"/>
              </a:spcAft>
            </a:pPr>
            <a:r>
              <a:rPr sz="1800" i="1">
                <a:solidFill>
                  <a:srgbClr val="2563EB"/>
                </a:solidFill>
              </a:rPr>
              <a:t>“AR: "يكون استعمال الحق غير مشروع في الأحوال الآتية: (أ) إذا لم يقصد به سوى الإضرار بالغير…"”</a:t>
            </a:r>
          </a:p>
          <a:p>
            <a:pPr>
              <a:spcAft>
                <a:spcPts val="600"/>
              </a:spcAft>
            </a:pPr>
            <a:r>
              <a:rPr sz="1800" i="1">
                <a:solidFill>
                  <a:srgbClr val="2563EB"/>
                </a:solidFill>
              </a:rPr>
              <a:t>“🎯 Key result: with retrieval grounding it, the fine-tuned model got the right article AND the right number — the combination fixes the closed-book number-binding weakness.”</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The Unified UI</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One chat. A dropdown picks who answers.</a:t>
            </a:r>
          </a:p>
          <a:p>
            <a:pPr>
              <a:spcAft>
                <a:spcPts val="600"/>
              </a:spcAft>
            </a:pPr>
            <a:r>
              <a:rPr sz="1800">
                <a:solidFill>
                  <a:srgbClr val="1F2937"/>
                </a:solidFill>
              </a:rPr>
              <a:t>• Built with Gradio (apps/unified_ui/).</a:t>
            </a:r>
          </a:p>
          <a:p>
            <a:pPr>
              <a:spcAft>
                <a:spcPts val="600"/>
              </a:spcAft>
            </a:pPr>
            <a:r>
              <a:rPr sz="1800">
                <a:solidFill>
                  <a:srgbClr val="1F2937"/>
                </a:solidFill>
              </a:rPr>
              <a:t>• 9 backends: 2 baselines (Qwen / Llama) · fine-tuned · 2 prompt-design variants · 2 RAG services · combined · multi-agent.</a:t>
            </a:r>
          </a:p>
          <a:p>
            <a:pPr>
              <a:spcAft>
                <a:spcPts val="600"/>
              </a:spcAft>
            </a:pPr>
            <a:r>
              <a:rPr sz="1800">
                <a:solidFill>
                  <a:srgbClr val="1F2937"/>
                </a:solidFill>
              </a:rPr>
              <a:t>• RAG backends show a 🔎 retrieval panel; the agent shows a 💭 trace panel.</a:t>
            </a:r>
          </a:p>
          <a:p>
            <a:pPr>
              <a:spcAft>
                <a:spcPts val="600"/>
              </a:spcAft>
            </a:pPr>
            <a:r>
              <a:rPr sz="1800">
                <a:solidFill>
                  <a:srgbClr val="1F2937"/>
                </a:solidFill>
              </a:rPr>
              <a:t>• Suggested questions sampled from the layperson / lawyer / knowledge datasets.</a:t>
            </a:r>
          </a:p>
          <a:p>
            <a:pPr>
              <a:spcAft>
                <a:spcPts val="600"/>
              </a:spcAft>
            </a:pPr>
            <a:r>
              <a:rPr sz="1800">
                <a:solidFill>
                  <a:srgbClr val="1F2937"/>
                </a:solidFill>
              </a:rPr>
              <a:t>• RAG services are called over HTTP microservices → keeps heavy models out of the UI process.</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Technology Stack</a:t>
            </a:r>
          </a:p>
        </p:txBody>
      </p:sp>
      <p:graphicFrame>
        <p:nvGraphicFramePr>
          <p:cNvPr id="4" name="Table 3"/>
          <p:cNvGraphicFramePr>
            <a:graphicFrameLocks noGrp="1"/>
          </p:cNvGraphicFramePr>
          <p:nvPr/>
        </p:nvGraphicFramePr>
        <p:xfrm>
          <a:off x="530000" y="1450000"/>
          <a:ext cx="11132000" cy="2660000"/>
        </p:xfrm>
        <a:graphic>
          <a:graphicData uri="http://schemas.openxmlformats.org/drawingml/2006/table">
            <a:tbl>
              <a:tblPr firstRow="1" bandRow="1">
                <a:tableStyleId>{5C22544A-7EE6-4342-B048-85BDC9FD1C3A}</a:tableStyleId>
              </a:tblPr>
              <a:tblGrid>
                <a:gridCol w="5566000"/>
                <a:gridCol w="5566000"/>
              </a:tblGrid>
              <a:tr h="380000">
                <a:tc>
                  <a:txBody>
                    <a:bodyPr/>
                    <a:lstStyle/>
                    <a:p>
                      <a:r>
                        <a:rPr sz="1300" b="1">
                          <a:solidFill>
                            <a:srgbClr val="FFFFFF"/>
                          </a:solidFill>
                        </a:rPr>
                        <a:t>Layer</a:t>
                      </a:r>
                    </a:p>
                  </a:txBody>
                  <a:tcPr anchor="ctr" marL="60000" marR="60000" marT="20000" marB="20000">
                    <a:solidFill>
                      <a:srgbClr val="2563EB"/>
                    </a:solidFill>
                  </a:tcPr>
                </a:tc>
                <a:tc>
                  <a:txBody>
                    <a:bodyPr/>
                    <a:lstStyle/>
                    <a:p>
                      <a:r>
                        <a:rPr sz="1300" b="1">
                          <a:solidFill>
                            <a:srgbClr val="FFFFFF"/>
                          </a:solidFill>
                        </a:rPr>
                        <a:t>Tools</a:t>
                      </a:r>
                    </a:p>
                  </a:txBody>
                  <a:tcPr anchor="ctr" marL="60000" marR="60000" marT="20000" marB="20000">
                    <a:solidFill>
                      <a:srgbClr val="2563EB"/>
                    </a:solidFill>
                  </a:tcPr>
                </a:tc>
              </a:tr>
              <a:tr h="380000">
                <a:tc>
                  <a:txBody>
                    <a:bodyPr/>
                    <a:lstStyle/>
                    <a:p>
                      <a:r>
                        <a:rPr sz="1300">
                          <a:solidFill>
                            <a:srgbClr val="1F2937"/>
                          </a:solidFill>
                        </a:rPr>
                        <a:t>Models</a:t>
                      </a:r>
                    </a:p>
                  </a:txBody>
                  <a:tcPr anchor="ctr" marL="60000" marR="60000" marT="20000" marB="20000">
                    <a:solidFill>
                      <a:srgbClr val="EFF6FF"/>
                    </a:solidFill>
                  </a:tcPr>
                </a:tc>
                <a:tc>
                  <a:txBody>
                    <a:bodyPr/>
                    <a:lstStyle/>
                    <a:p>
                      <a:r>
                        <a:rPr sz="1300">
                          <a:solidFill>
                            <a:srgbClr val="1F2937"/>
                          </a:solidFill>
                        </a:rPr>
                        <a:t>Qwen2.5-3B-Instruct, Llama-3.2-3B, glm-5 (gateway)</a:t>
                      </a:r>
                    </a:p>
                  </a:txBody>
                  <a:tcPr anchor="ctr" marL="60000" marR="60000" marT="20000" marB="20000">
                    <a:solidFill>
                      <a:srgbClr val="EFF6FF"/>
                    </a:solidFill>
                  </a:tcPr>
                </a:tc>
              </a:tr>
              <a:tr h="380000">
                <a:tc>
                  <a:txBody>
                    <a:bodyPr/>
                    <a:lstStyle/>
                    <a:p>
                      <a:r>
                        <a:rPr sz="1300">
                          <a:solidFill>
                            <a:srgbClr val="1F2937"/>
                          </a:solidFill>
                        </a:rPr>
                        <a:t>Fine-tuning</a:t>
                      </a:r>
                    </a:p>
                  </a:txBody>
                  <a:tcPr anchor="ctr" marL="60000" marR="60000" marT="20000" marB="20000">
                    <a:solidFill>
                      <a:srgbClr val="FFFFFF"/>
                    </a:solidFill>
                  </a:tcPr>
                </a:tc>
                <a:tc>
                  <a:txBody>
                    <a:bodyPr/>
                    <a:lstStyle/>
                    <a:p>
                      <a:r>
                        <a:rPr sz="1300">
                          <a:solidFill>
                            <a:srgbClr val="1F2937"/>
                          </a:solidFill>
                        </a:rPr>
                        <a:t>QLoRA · PEFT · bitsandbytes · Unsloth · TRL</a:t>
                      </a:r>
                    </a:p>
                  </a:txBody>
                  <a:tcPr anchor="ctr" marL="60000" marR="60000" marT="20000" marB="20000">
                    <a:solidFill>
                      <a:srgbClr val="FFFFFF"/>
                    </a:solidFill>
                  </a:tcPr>
                </a:tc>
              </a:tr>
              <a:tr h="380000">
                <a:tc>
                  <a:txBody>
                    <a:bodyPr/>
                    <a:lstStyle/>
                    <a:p>
                      <a:r>
                        <a:rPr sz="1300">
                          <a:solidFill>
                            <a:srgbClr val="1F2937"/>
                          </a:solidFill>
                        </a:rPr>
                        <a:t>Retrieval</a:t>
                      </a:r>
                    </a:p>
                  </a:txBody>
                  <a:tcPr anchor="ctr" marL="60000" marR="60000" marT="20000" marB="20000">
                    <a:solidFill>
                      <a:srgbClr val="EFF6FF"/>
                    </a:solidFill>
                  </a:tcPr>
                </a:tc>
                <a:tc>
                  <a:txBody>
                    <a:bodyPr/>
                    <a:lstStyle/>
                    <a:p>
                      <a:r>
                        <a:rPr sz="1300">
                          <a:solidFill>
                            <a:srgbClr val="1F2937"/>
                          </a:solidFill>
                        </a:rPr>
                        <a:t>BAAI/bge-m3 · Neo4j Aura · Chroma · cross-encoder rerank · LightRAG</a:t>
                      </a:r>
                    </a:p>
                  </a:txBody>
                  <a:tcPr anchor="ctr" marL="60000" marR="60000" marT="20000" marB="20000">
                    <a:solidFill>
                      <a:srgbClr val="EFF6FF"/>
                    </a:solidFill>
                  </a:tcPr>
                </a:tc>
              </a:tr>
              <a:tr h="380000">
                <a:tc>
                  <a:txBody>
                    <a:bodyPr/>
                    <a:lstStyle/>
                    <a:p>
                      <a:r>
                        <a:rPr sz="1300">
                          <a:solidFill>
                            <a:srgbClr val="1F2937"/>
                          </a:solidFill>
                        </a:rPr>
                        <a:t>Serving</a:t>
                      </a:r>
                    </a:p>
                  </a:txBody>
                  <a:tcPr anchor="ctr" marL="60000" marR="60000" marT="20000" marB="20000">
                    <a:solidFill>
                      <a:srgbClr val="FFFFFF"/>
                    </a:solidFill>
                  </a:tcPr>
                </a:tc>
                <a:tc>
                  <a:txBody>
                    <a:bodyPr/>
                    <a:lstStyle/>
                    <a:p>
                      <a:r>
                        <a:rPr sz="1300">
                          <a:solidFill>
                            <a:srgbClr val="1F2937"/>
                          </a:solidFill>
                        </a:rPr>
                        <a:t>Ollama · FastAPI · Gradio</a:t>
                      </a:r>
                    </a:p>
                  </a:txBody>
                  <a:tcPr anchor="ctr" marL="60000" marR="60000" marT="20000" marB="20000">
                    <a:solidFill>
                      <a:srgbClr val="FFFFFF"/>
                    </a:solidFill>
                  </a:tcPr>
                </a:tc>
              </a:tr>
              <a:tr h="380000">
                <a:tc>
                  <a:txBody>
                    <a:bodyPr/>
                    <a:lstStyle/>
                    <a:p>
                      <a:r>
                        <a:rPr sz="1300">
                          <a:solidFill>
                            <a:srgbClr val="1F2937"/>
                          </a:solidFill>
                        </a:rPr>
                        <a:t>Orchestration</a:t>
                      </a:r>
                    </a:p>
                  </a:txBody>
                  <a:tcPr anchor="ctr" marL="60000" marR="60000" marT="20000" marB="20000">
                    <a:solidFill>
                      <a:srgbClr val="EFF6FF"/>
                    </a:solidFill>
                  </a:tcPr>
                </a:tc>
                <a:tc>
                  <a:txBody>
                    <a:bodyPr/>
                    <a:lstStyle/>
                    <a:p>
                      <a:r>
                        <a:rPr sz="1300">
                          <a:solidFill>
                            <a:srgbClr val="1F2937"/>
                          </a:solidFill>
                        </a:rPr>
                        <a:t>LangGraph · Claude Agent SDK</a:t>
                      </a:r>
                    </a:p>
                  </a:txBody>
                  <a:tcPr anchor="ctr" marL="60000" marR="60000" marT="20000" marB="20000">
                    <a:solidFill>
                      <a:srgbClr val="EFF6FF"/>
                    </a:solidFill>
                  </a:tcPr>
                </a:tc>
              </a:tr>
              <a:tr h="380000">
                <a:tc>
                  <a:txBody>
                    <a:bodyPr/>
                    <a:lstStyle/>
                    <a:p>
                      <a:r>
                        <a:rPr sz="1300">
                          <a:solidFill>
                            <a:srgbClr val="1F2937"/>
                          </a:solidFill>
                        </a:rPr>
                        <a:t>Infra</a:t>
                      </a:r>
                    </a:p>
                  </a:txBody>
                  <a:tcPr anchor="ctr" marL="60000" marR="60000" marT="20000" marB="20000">
                    <a:solidFill>
                      <a:srgbClr val="FFFFFF"/>
                    </a:solidFill>
                  </a:tcPr>
                </a:tc>
                <a:tc>
                  <a:txBody>
                    <a:bodyPr/>
                    <a:lstStyle/>
                    <a:p>
                      <a:r>
                        <a:rPr sz="1300">
                          <a:solidFill>
                            <a:srgbClr val="1F2937"/>
                          </a:solidFill>
                        </a:rPr>
                        <a:t>Python 3.11 · conda · RTX 3050 6 GB (WSL2)</a:t>
                      </a:r>
                    </a:p>
                  </a:txBody>
                  <a:tcPr anchor="ctr" marL="60000" marR="60000" marT="20000" marB="20000">
                    <a:solidFill>
                      <a:srgbClr val="FFFFFF"/>
                    </a:solidFill>
                  </a:tcPr>
                </a:tc>
              </a:tr>
            </a:tbl>
          </a:graphicData>
        </a:graphic>
      </p:graphicFrame>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Engineering Challenges Solved</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6 GB VRAM budget → 4-bit quantisation; baseline + fine-tuned share one base-model load via a PEFT adapter toggle; RAG embeddings can run on CPU.</a:t>
            </a:r>
          </a:p>
          <a:p>
            <a:pPr>
              <a:spcAft>
                <a:spcPts val="600"/>
              </a:spcAft>
            </a:pPr>
            <a:r>
              <a:rPr sz="1800">
                <a:solidFill>
                  <a:srgbClr val="1F2937"/>
                </a:solidFill>
              </a:rPr>
              <a:t>• BGE-M3 has no safetensors → transformers 5.x blocks torch.load on torch &lt; 2.6 (CVE). Fix: a one-time .bin → safetensors converter (scripts/ensure_bge_m3_safetensors.py) used by both RAG services.</a:t>
            </a:r>
          </a:p>
          <a:p>
            <a:pPr>
              <a:spcAft>
                <a:spcPts val="600"/>
              </a:spcAft>
            </a:pPr>
            <a:r>
              <a:rPr sz="1800">
                <a:solidFill>
                  <a:srgbClr val="1F2937"/>
                </a:solidFill>
              </a:rPr>
              <a:t>• Microservice split so each RAG keeps its own embedder in its own process.</a:t>
            </a:r>
          </a:p>
          <a:p>
            <a:pPr>
              <a:spcAft>
                <a:spcPts val="600"/>
              </a:spcAft>
            </a:pPr>
            <a:r>
              <a:rPr sz="1800">
                <a:solidFill>
                  <a:srgbClr val="1F2937"/>
                </a:solidFill>
              </a:rPr>
              <a:t>• Decoupled per-service model config (e.g. Neo4j RAG pinned to Qwen2.5-3B, independent of the global Ollama model).</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How to Run</a:t>
            </a:r>
          </a:p>
        </p:txBody>
      </p:sp>
      <p:sp>
        <p:nvSpPr>
          <p:cNvPr id="4" name="TextBox 3"/>
          <p:cNvSpPr txBox="1"/>
          <p:nvPr/>
        </p:nvSpPr>
        <p:spPr>
          <a:xfrm>
            <a:off x="530000" y="1450000"/>
            <a:ext cx="11132000" cy="5108000"/>
          </a:xfrm>
          <a:prstGeom prst="rect">
            <a:avLst/>
          </a:prstGeom>
          <a:noFill/>
        </p:spPr>
        <p:txBody>
          <a:bodyPr wrap="square">
            <a:spAutoFit/>
          </a:bodyPr>
          <a:lstStyle/>
          <a:p/>
          <a:p>
            <a:r>
              <a:rPr sz="1400">
                <a:solidFill>
                  <a:srgbClr val="475569"/>
                </a:solidFill>
                <a:latin typeface="Consolas"/>
              </a:rPr>
              <a:t>conda activate legalpolicy</a:t>
            </a:r>
          </a:p>
          <a:p>
            <a:r>
              <a:rPr sz="1400">
                <a:solidFill>
                  <a:srgbClr val="475569"/>
                </a:solidFill>
                <a:latin typeface="Consolas"/>
              </a:rPr>
              <a:t/>
            </a:r>
          </a:p>
          <a:p>
            <a:r>
              <a:rPr sz="1400">
                <a:solidFill>
                  <a:srgbClr val="475569"/>
                </a:solidFill>
                <a:latin typeface="Consolas"/>
              </a:rPr>
              <a:t># Individual projects</a:t>
            </a:r>
          </a:p>
          <a:p>
            <a:r>
              <a:rPr sz="1400">
                <a:solidFill>
                  <a:srgbClr val="475569"/>
                </a:solidFill>
                <a:latin typeface="Consolas"/>
              </a:rPr>
              <a:t>./scripts/run_prompt_design.sh            # CLI</a:t>
            </a:r>
          </a:p>
          <a:p>
            <a:r>
              <a:rPr sz="1400">
                <a:solidFill>
                  <a:srgbClr val="475569"/>
                </a:solidFill>
                <a:latin typeface="Consolas"/>
              </a:rPr>
              <a:t>./scripts/run_finetuned.sh                # :7860</a:t>
            </a:r>
          </a:p>
          <a:p>
            <a:r>
              <a:rPr sz="1400">
                <a:solidFill>
                  <a:srgbClr val="475569"/>
                </a:solidFill>
                <a:latin typeface="Consolas"/>
              </a:rPr>
              <a:t>./scripts/run_neo4j_rag.sh                # :8000  (FastAPI)</a:t>
            </a:r>
          </a:p>
          <a:p>
            <a:r>
              <a:rPr sz="1400">
                <a:solidFill>
                  <a:srgbClr val="475569"/>
                </a:solidFill>
                <a:latin typeface="Consolas"/>
              </a:rPr>
              <a:t>./scripts/run_bilingual_rag.sh ui         # :7861</a:t>
            </a:r>
          </a:p>
          <a:p>
            <a:r>
              <a:rPr sz="1400">
                <a:solidFill>
                  <a:srgbClr val="475569"/>
                </a:solidFill>
                <a:latin typeface="Consolas"/>
              </a:rPr>
              <a:t>./scripts/run_agents.sh                   # :7860</a:t>
            </a:r>
          </a:p>
          <a:p>
            <a:r>
              <a:rPr sz="1400">
                <a:solidFill>
                  <a:srgbClr val="475569"/>
                </a:solidFill>
                <a:latin typeface="Consolas"/>
              </a:rPr>
              <a:t>./scripts/run_legal_graphrag_finetuned.sh # :7863  (Project 6)</a:t>
            </a:r>
          </a:p>
          <a:p>
            <a:r>
              <a:rPr sz="1400">
                <a:solidFill>
                  <a:srgbClr val="475569"/>
                </a:solidFill>
                <a:latin typeface="Consolas"/>
              </a:rPr>
              <a:t/>
            </a:r>
          </a:p>
          <a:p>
            <a:r>
              <a:rPr sz="1400">
                <a:solidFill>
                  <a:srgbClr val="475569"/>
                </a:solidFill>
                <a:latin typeface="Consolas"/>
              </a:rPr>
              <a:t># Everything behind one UI</a:t>
            </a:r>
          </a:p>
          <a:p>
            <a:r>
              <a:rPr sz="1400">
                <a:solidFill>
                  <a:srgbClr val="475569"/>
                </a:solidFill>
                <a:latin typeface="Consolas"/>
              </a:rPr>
              <a:t>./scripts/serve_stack.sh                  # RAG services + Unified UI (:7870)</a:t>
            </a:r>
          </a:p>
          <a:p>
            <a:pPr>
              <a:spcAft>
                <a:spcPts val="600"/>
              </a:spcAft>
            </a:pPr>
            <a:r>
              <a:rPr sz="1800">
                <a:solidFill>
                  <a:srgbClr val="1F2937"/>
                </a:solidFill>
              </a:rPr>
              <a:t>See RUN.md for full details.</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Projects Compared</a:t>
            </a:r>
          </a:p>
        </p:txBody>
      </p:sp>
      <p:graphicFrame>
        <p:nvGraphicFramePr>
          <p:cNvPr id="4" name="Table 3"/>
          <p:cNvGraphicFramePr>
            <a:graphicFrameLocks noGrp="1"/>
          </p:cNvGraphicFramePr>
          <p:nvPr/>
        </p:nvGraphicFramePr>
        <p:xfrm>
          <a:off x="530000" y="1450000"/>
          <a:ext cx="11132000" cy="2660000"/>
        </p:xfrm>
        <a:graphic>
          <a:graphicData uri="http://schemas.openxmlformats.org/drawingml/2006/table">
            <a:tbl>
              <a:tblPr firstRow="1" bandRow="1">
                <a:tableStyleId>{5C22544A-7EE6-4342-B048-85BDC9FD1C3A}</a:tableStyleId>
              </a:tblPr>
              <a:tblGrid>
                <a:gridCol w="2226400"/>
                <a:gridCol w="2226400"/>
                <a:gridCol w="2226400"/>
                <a:gridCol w="2226400"/>
                <a:gridCol w="2226400"/>
              </a:tblGrid>
              <a:tr h="380000">
                <a:tc>
                  <a:txBody>
                    <a:bodyPr/>
                    <a:lstStyle/>
                    <a:p>
                      <a:r>
                        <a:rPr sz="1300" b="1">
                          <a:solidFill>
                            <a:srgbClr val="FFFFFF"/>
                          </a:solidFill>
                        </a:rPr>
                        <a:t>#</a:t>
                      </a:r>
                    </a:p>
                  </a:txBody>
                  <a:tcPr anchor="ctr" marL="60000" marR="60000" marT="20000" marB="20000">
                    <a:solidFill>
                      <a:srgbClr val="2563EB"/>
                    </a:solidFill>
                  </a:tcPr>
                </a:tc>
                <a:tc>
                  <a:txBody>
                    <a:bodyPr/>
                    <a:lstStyle/>
                    <a:p>
                      <a:r>
                        <a:rPr sz="1300" b="1">
                          <a:solidFill>
                            <a:srgbClr val="FFFFFF"/>
                          </a:solidFill>
                        </a:rPr>
                        <a:t>Project</a:t>
                      </a:r>
                    </a:p>
                  </a:txBody>
                  <a:tcPr anchor="ctr" marL="60000" marR="60000" marT="20000" marB="20000">
                    <a:solidFill>
                      <a:srgbClr val="2563EB"/>
                    </a:solidFill>
                  </a:tcPr>
                </a:tc>
                <a:tc>
                  <a:txBody>
                    <a:bodyPr/>
                    <a:lstStyle/>
                    <a:p>
                      <a:r>
                        <a:rPr sz="1300" b="1">
                          <a:solidFill>
                            <a:srgbClr val="FFFFFF"/>
                          </a:solidFill>
                        </a:rPr>
                        <a:t>Knows the law via</a:t>
                      </a:r>
                    </a:p>
                  </a:txBody>
                  <a:tcPr anchor="ctr" marL="60000" marR="60000" marT="20000" marB="20000">
                    <a:solidFill>
                      <a:srgbClr val="2563EB"/>
                    </a:solidFill>
                  </a:tcPr>
                </a:tc>
                <a:tc>
                  <a:txBody>
                    <a:bodyPr/>
                    <a:lstStyle/>
                    <a:p>
                      <a:r>
                        <a:rPr sz="1300" b="1">
                          <a:solidFill>
                            <a:srgbClr val="FFFFFF"/>
                          </a:solidFill>
                        </a:rPr>
                        <a:t>Cites sources</a:t>
                      </a:r>
                    </a:p>
                  </a:txBody>
                  <a:tcPr anchor="ctr" marL="60000" marR="60000" marT="20000" marB="20000">
                    <a:solidFill>
                      <a:srgbClr val="2563EB"/>
                    </a:solidFill>
                  </a:tcPr>
                </a:tc>
                <a:tc>
                  <a:txBody>
                    <a:bodyPr/>
                    <a:lstStyle/>
                    <a:p>
                      <a:r>
                        <a:rPr sz="1300" b="1">
                          <a:solidFill>
                            <a:srgbClr val="FFFFFF"/>
                          </a:solidFill>
                        </a:rPr>
                        <a:t>Needs GPU</a:t>
                      </a:r>
                    </a:p>
                  </a:txBody>
                  <a:tcPr anchor="ctr" marL="60000" marR="60000" marT="20000" marB="20000">
                    <a:solidFill>
                      <a:srgbClr val="2563EB"/>
                    </a:solidFill>
                  </a:tcPr>
                </a:tc>
              </a:tr>
              <a:tr h="380000">
                <a:tc>
                  <a:txBody>
                    <a:bodyPr/>
                    <a:lstStyle/>
                    <a:p>
                      <a:r>
                        <a:rPr sz="1300">
                          <a:solidFill>
                            <a:srgbClr val="1F2937"/>
                          </a:solidFill>
                        </a:rPr>
                        <a:t>1</a:t>
                      </a:r>
                    </a:p>
                  </a:txBody>
                  <a:tcPr anchor="ctr" marL="60000" marR="60000" marT="20000" marB="20000">
                    <a:solidFill>
                      <a:srgbClr val="EFF6FF"/>
                    </a:solidFill>
                  </a:tcPr>
                </a:tc>
                <a:tc>
                  <a:txBody>
                    <a:bodyPr/>
                    <a:lstStyle/>
                    <a:p>
                      <a:r>
                        <a:rPr sz="1300">
                          <a:solidFill>
                            <a:srgbClr val="1F2937"/>
                          </a:solidFill>
                        </a:rPr>
                        <a:t>Prompt Design</a:t>
                      </a:r>
                    </a:p>
                  </a:txBody>
                  <a:tcPr anchor="ctr" marL="60000" marR="60000" marT="20000" marB="20000">
                    <a:solidFill>
                      <a:srgbClr val="EFF6FF"/>
                    </a:solidFill>
                  </a:tcPr>
                </a:tc>
                <a:tc>
                  <a:txBody>
                    <a:bodyPr/>
                    <a:lstStyle/>
                    <a:p>
                      <a:r>
                        <a:rPr sz="1300">
                          <a:solidFill>
                            <a:srgbClr val="1F2937"/>
                          </a:solidFill>
                        </a:rPr>
                        <a:t>nothing (prompt only)</a:t>
                      </a:r>
                    </a:p>
                  </a:txBody>
                  <a:tcPr anchor="ctr" marL="60000" marR="60000" marT="20000" marB="20000">
                    <a:solidFill>
                      <a:srgbClr val="EFF6FF"/>
                    </a:solidFill>
                  </a:tcPr>
                </a:tc>
                <a:tc>
                  <a:txBody>
                    <a:bodyPr/>
                    <a:lstStyle/>
                    <a:p>
                      <a:r>
                        <a:rPr sz="1300">
                          <a:solidFill>
                            <a:srgbClr val="1F2937"/>
                          </a:solidFill>
                        </a:rPr>
                        <a:t>✗</a:t>
                      </a:r>
                    </a:p>
                  </a:txBody>
                  <a:tcPr anchor="ctr" marL="60000" marR="60000" marT="20000" marB="20000">
                    <a:solidFill>
                      <a:srgbClr val="EFF6FF"/>
                    </a:solidFill>
                  </a:tcPr>
                </a:tc>
                <a:tc>
                  <a:txBody>
                    <a:bodyPr/>
                    <a:lstStyle/>
                    <a:p>
                      <a:r>
                        <a:rPr sz="1300">
                          <a:solidFill>
                            <a:srgbClr val="1F2937"/>
                          </a:solidFill>
                        </a:rPr>
                        <a:t>✗ (Ollama)</a:t>
                      </a:r>
                    </a:p>
                  </a:txBody>
                  <a:tcPr anchor="ctr" marL="60000" marR="60000" marT="20000" marB="20000">
                    <a:solidFill>
                      <a:srgbClr val="EFF6FF"/>
                    </a:solidFill>
                  </a:tcPr>
                </a:tc>
              </a:tr>
              <a:tr h="380000">
                <a:tc>
                  <a:txBody>
                    <a:bodyPr/>
                    <a:lstStyle/>
                    <a:p>
                      <a:r>
                        <a:rPr sz="1300">
                          <a:solidFill>
                            <a:srgbClr val="1F2937"/>
                          </a:solidFill>
                        </a:rPr>
                        <a:t>2</a:t>
                      </a:r>
                    </a:p>
                  </a:txBody>
                  <a:tcPr anchor="ctr" marL="60000" marR="60000" marT="20000" marB="20000">
                    <a:solidFill>
                      <a:srgbClr val="FFFFFF"/>
                    </a:solidFill>
                  </a:tcPr>
                </a:tc>
                <a:tc>
                  <a:txBody>
                    <a:bodyPr/>
                    <a:lstStyle/>
                    <a:p>
                      <a:r>
                        <a:rPr sz="1300">
                          <a:solidFill>
                            <a:srgbClr val="1F2937"/>
                          </a:solidFill>
                        </a:rPr>
                        <a:t>Fine-tuned 3B</a:t>
                      </a:r>
                    </a:p>
                  </a:txBody>
                  <a:tcPr anchor="ctr" marL="60000" marR="60000" marT="20000" marB="20000">
                    <a:solidFill>
                      <a:srgbClr val="FFFFFF"/>
                    </a:solidFill>
                  </a:tcPr>
                </a:tc>
                <a:tc>
                  <a:txBody>
                    <a:bodyPr/>
                    <a:lstStyle/>
                    <a:p>
                      <a:r>
                        <a:rPr sz="1300">
                          <a:solidFill>
                            <a:srgbClr val="1F2937"/>
                          </a:solidFill>
                        </a:rPr>
                        <a:t>memorised weights</a:t>
                      </a:r>
                    </a:p>
                  </a:txBody>
                  <a:tcPr anchor="ctr" marL="60000" marR="60000" marT="20000" marB="20000">
                    <a:solidFill>
                      <a:srgbClr val="FFFFFF"/>
                    </a:solidFill>
                  </a:tcPr>
                </a:tc>
                <a:tc>
                  <a:txBody>
                    <a:bodyPr/>
                    <a:lstStyle/>
                    <a:p>
                      <a:r>
                        <a:rPr sz="1300">
                          <a:solidFill>
                            <a:srgbClr val="1F2937"/>
                          </a:solidFill>
                        </a:rPr>
                        <a:t>~</a:t>
                      </a:r>
                    </a:p>
                  </a:txBody>
                  <a:tcPr anchor="ctr" marL="60000" marR="60000" marT="20000" marB="20000">
                    <a:solidFill>
                      <a:srgbClr val="FFFFFF"/>
                    </a:solidFill>
                  </a:tcPr>
                </a:tc>
                <a:tc>
                  <a:txBody>
                    <a:bodyPr/>
                    <a:lstStyle/>
                    <a:p>
                      <a:r>
                        <a:rPr sz="1300">
                          <a:solidFill>
                            <a:srgbClr val="1F2937"/>
                          </a:solidFill>
                        </a:rPr>
                        <a:t>✓</a:t>
                      </a:r>
                    </a:p>
                  </a:txBody>
                  <a:tcPr anchor="ctr" marL="60000" marR="60000" marT="20000" marB="20000">
                    <a:solidFill>
                      <a:srgbClr val="FFFFFF"/>
                    </a:solidFill>
                  </a:tcPr>
                </a:tc>
              </a:tr>
              <a:tr h="380000">
                <a:tc>
                  <a:txBody>
                    <a:bodyPr/>
                    <a:lstStyle/>
                    <a:p>
                      <a:r>
                        <a:rPr sz="1300">
                          <a:solidFill>
                            <a:srgbClr val="1F2937"/>
                          </a:solidFill>
                        </a:rPr>
                        <a:t>3</a:t>
                      </a:r>
                    </a:p>
                  </a:txBody>
                  <a:tcPr anchor="ctr" marL="60000" marR="60000" marT="20000" marB="20000">
                    <a:solidFill>
                      <a:srgbClr val="EFF6FF"/>
                    </a:solidFill>
                  </a:tcPr>
                </a:tc>
                <a:tc>
                  <a:txBody>
                    <a:bodyPr/>
                    <a:lstStyle/>
                    <a:p>
                      <a:r>
                        <a:rPr sz="1300">
                          <a:solidFill>
                            <a:srgbClr val="1F2937"/>
                          </a:solidFill>
                        </a:rPr>
                        <a:t>Neo4j Graph RAG</a:t>
                      </a:r>
                    </a:p>
                  </a:txBody>
                  <a:tcPr anchor="ctr" marL="60000" marR="60000" marT="20000" marB="20000">
                    <a:solidFill>
                      <a:srgbClr val="EFF6FF"/>
                    </a:solidFill>
                  </a:tcPr>
                </a:tc>
                <a:tc>
                  <a:txBody>
                    <a:bodyPr/>
                    <a:lstStyle/>
                    <a:p>
                      <a:r>
                        <a:rPr sz="1300">
                          <a:solidFill>
                            <a:srgbClr val="1F2937"/>
                          </a:solidFill>
                        </a:rPr>
                        <a:t>graph + vector retrieval</a:t>
                      </a:r>
                    </a:p>
                  </a:txBody>
                  <a:tcPr anchor="ctr" marL="60000" marR="60000" marT="20000" marB="20000">
                    <a:solidFill>
                      <a:srgbClr val="EFF6FF"/>
                    </a:solidFill>
                  </a:tcPr>
                </a:tc>
                <a:tc>
                  <a:txBody>
                    <a:bodyPr/>
                    <a:lstStyle/>
                    <a:p>
                      <a:r>
                        <a:rPr sz="1300">
                          <a:solidFill>
                            <a:srgbClr val="1F2937"/>
                          </a:solidFill>
                        </a:rPr>
                        <a:t>✓</a:t>
                      </a:r>
                    </a:p>
                  </a:txBody>
                  <a:tcPr anchor="ctr" marL="60000" marR="60000" marT="20000" marB="20000">
                    <a:solidFill>
                      <a:srgbClr val="EFF6FF"/>
                    </a:solidFill>
                  </a:tcPr>
                </a:tc>
                <a:tc>
                  <a:txBody>
                    <a:bodyPr/>
                    <a:lstStyle/>
                    <a:p>
                      <a:r>
                        <a:rPr sz="1300">
                          <a:solidFill>
                            <a:srgbClr val="1F2937"/>
                          </a:solidFill>
                        </a:rPr>
                        <a:t>✗</a:t>
                      </a:r>
                    </a:p>
                  </a:txBody>
                  <a:tcPr anchor="ctr" marL="60000" marR="60000" marT="20000" marB="20000">
                    <a:solidFill>
                      <a:srgbClr val="EFF6FF"/>
                    </a:solidFill>
                  </a:tcPr>
                </a:tc>
              </a:tr>
              <a:tr h="380000">
                <a:tc>
                  <a:txBody>
                    <a:bodyPr/>
                    <a:lstStyle/>
                    <a:p>
                      <a:r>
                        <a:rPr sz="1300">
                          <a:solidFill>
                            <a:srgbClr val="1F2937"/>
                          </a:solidFill>
                        </a:rPr>
                        <a:t>4</a:t>
                      </a:r>
                    </a:p>
                  </a:txBody>
                  <a:tcPr anchor="ctr" marL="60000" marR="60000" marT="20000" marB="20000">
                    <a:solidFill>
                      <a:srgbClr val="FFFFFF"/>
                    </a:solidFill>
                  </a:tcPr>
                </a:tc>
                <a:tc>
                  <a:txBody>
                    <a:bodyPr/>
                    <a:lstStyle/>
                    <a:p>
                      <a:r>
                        <a:rPr sz="1300">
                          <a:solidFill>
                            <a:srgbClr val="1F2937"/>
                          </a:solidFill>
                        </a:rPr>
                        <a:t>Bilingual RAG</a:t>
                      </a:r>
                    </a:p>
                  </a:txBody>
                  <a:tcPr anchor="ctr" marL="60000" marR="60000" marT="20000" marB="20000">
                    <a:solidFill>
                      <a:srgbClr val="FFFFFF"/>
                    </a:solidFill>
                  </a:tcPr>
                </a:tc>
                <a:tc>
                  <a:txBody>
                    <a:bodyPr/>
                    <a:lstStyle/>
                    <a:p>
                      <a:r>
                        <a:rPr sz="1300">
                          <a:solidFill>
                            <a:srgbClr val="1F2937"/>
                          </a:solidFill>
                        </a:rPr>
                        <a:t>Chroma vector retrieval</a:t>
                      </a:r>
                    </a:p>
                  </a:txBody>
                  <a:tcPr anchor="ctr" marL="60000" marR="60000" marT="20000" marB="20000">
                    <a:solidFill>
                      <a:srgbClr val="FFFFFF"/>
                    </a:solidFill>
                  </a:tcPr>
                </a:tc>
                <a:tc>
                  <a:txBody>
                    <a:bodyPr/>
                    <a:lstStyle/>
                    <a:p>
                      <a:r>
                        <a:rPr sz="1300">
                          <a:solidFill>
                            <a:srgbClr val="1F2937"/>
                          </a:solidFill>
                        </a:rPr>
                        <a:t>✓</a:t>
                      </a:r>
                    </a:p>
                  </a:txBody>
                  <a:tcPr anchor="ctr" marL="60000" marR="60000" marT="20000" marB="20000">
                    <a:solidFill>
                      <a:srgbClr val="FFFFFF"/>
                    </a:solidFill>
                  </a:tcPr>
                </a:tc>
                <a:tc>
                  <a:txBody>
                    <a:bodyPr/>
                    <a:lstStyle/>
                    <a:p>
                      <a:r>
                        <a:rPr sz="1300">
                          <a:solidFill>
                            <a:srgbClr val="1F2937"/>
                          </a:solidFill>
                        </a:rPr>
                        <a:t>✗</a:t>
                      </a:r>
                    </a:p>
                  </a:txBody>
                  <a:tcPr anchor="ctr" marL="60000" marR="60000" marT="20000" marB="20000">
                    <a:solidFill>
                      <a:srgbClr val="FFFFFF"/>
                    </a:solidFill>
                  </a:tcPr>
                </a:tc>
              </a:tr>
              <a:tr h="380000">
                <a:tc>
                  <a:txBody>
                    <a:bodyPr/>
                    <a:lstStyle/>
                    <a:p>
                      <a:r>
                        <a:rPr sz="1300">
                          <a:solidFill>
                            <a:srgbClr val="1F2937"/>
                          </a:solidFill>
                        </a:rPr>
                        <a:t>5</a:t>
                      </a:r>
                    </a:p>
                  </a:txBody>
                  <a:tcPr anchor="ctr" marL="60000" marR="60000" marT="20000" marB="20000">
                    <a:solidFill>
                      <a:srgbClr val="EFF6FF"/>
                    </a:solidFill>
                  </a:tcPr>
                </a:tc>
                <a:tc>
                  <a:txBody>
                    <a:bodyPr/>
                    <a:lstStyle/>
                    <a:p>
                      <a:r>
                        <a:rPr sz="1300">
                          <a:solidFill>
                            <a:srgbClr val="1F2937"/>
                          </a:solidFill>
                        </a:rPr>
                        <a:t>Multi-Agent</a:t>
                      </a:r>
                    </a:p>
                  </a:txBody>
                  <a:tcPr anchor="ctr" marL="60000" marR="60000" marT="20000" marB="20000">
                    <a:solidFill>
                      <a:srgbClr val="EFF6FF"/>
                    </a:solidFill>
                  </a:tcPr>
                </a:tc>
                <a:tc>
                  <a:txBody>
                    <a:bodyPr/>
                    <a:lstStyle/>
                    <a:p>
                      <a:r>
                        <a:rPr sz="1300">
                          <a:solidFill>
                            <a:srgbClr val="1F2937"/>
                          </a:solidFill>
                        </a:rPr>
                        <a:t>tools + LightRAG</a:t>
                      </a:r>
                    </a:p>
                  </a:txBody>
                  <a:tcPr anchor="ctr" marL="60000" marR="60000" marT="20000" marB="20000">
                    <a:solidFill>
                      <a:srgbClr val="EFF6FF"/>
                    </a:solidFill>
                  </a:tcPr>
                </a:tc>
                <a:tc>
                  <a:txBody>
                    <a:bodyPr/>
                    <a:lstStyle/>
                    <a:p>
                      <a:r>
                        <a:rPr sz="1300">
                          <a:solidFill>
                            <a:srgbClr val="1F2937"/>
                          </a:solidFill>
                        </a:rPr>
                        <a:t>✓</a:t>
                      </a:r>
                    </a:p>
                  </a:txBody>
                  <a:tcPr anchor="ctr" marL="60000" marR="60000" marT="20000" marB="20000">
                    <a:solidFill>
                      <a:srgbClr val="EFF6FF"/>
                    </a:solidFill>
                  </a:tcPr>
                </a:tc>
                <a:tc>
                  <a:txBody>
                    <a:bodyPr/>
                    <a:lstStyle/>
                    <a:p>
                      <a:r>
                        <a:rPr sz="1300">
                          <a:solidFill>
                            <a:srgbClr val="1F2937"/>
                          </a:solidFill>
                        </a:rPr>
                        <a:t>✗ (gateway)</a:t>
                      </a:r>
                    </a:p>
                  </a:txBody>
                  <a:tcPr anchor="ctr" marL="60000" marR="60000" marT="20000" marB="20000">
                    <a:solidFill>
                      <a:srgbClr val="EFF6FF"/>
                    </a:solidFill>
                  </a:tcPr>
                </a:tc>
              </a:tr>
              <a:tr h="380000">
                <a:tc>
                  <a:txBody>
                    <a:bodyPr/>
                    <a:lstStyle/>
                    <a:p>
                      <a:r>
                        <a:rPr sz="1300">
                          <a:solidFill>
                            <a:srgbClr val="1F2937"/>
                          </a:solidFill>
                        </a:rPr>
                        <a:t>6</a:t>
                      </a:r>
                    </a:p>
                  </a:txBody>
                  <a:tcPr anchor="ctr" marL="60000" marR="60000" marT="20000" marB="20000">
                    <a:solidFill>
                      <a:srgbClr val="FFFFFF"/>
                    </a:solidFill>
                  </a:tcPr>
                </a:tc>
                <a:tc>
                  <a:txBody>
                    <a:bodyPr/>
                    <a:lstStyle/>
                    <a:p>
                      <a:r>
                        <a:rPr sz="1300">
                          <a:solidFill>
                            <a:srgbClr val="1F2937"/>
                          </a:solidFill>
                        </a:rPr>
                        <a:t>Combined</a:t>
                      </a:r>
                    </a:p>
                  </a:txBody>
                  <a:tcPr anchor="ctr" marL="60000" marR="60000" marT="20000" marB="20000">
                    <a:solidFill>
                      <a:srgbClr val="FFFFFF"/>
                    </a:solidFill>
                  </a:tcPr>
                </a:tc>
                <a:tc>
                  <a:txBody>
                    <a:bodyPr/>
                    <a:lstStyle/>
                    <a:p>
                      <a:r>
                        <a:rPr sz="1300">
                          <a:solidFill>
                            <a:srgbClr val="1F2937"/>
                          </a:solidFill>
                        </a:rPr>
                        <a:t>retrieval + fine-tuned</a:t>
                      </a:r>
                    </a:p>
                  </a:txBody>
                  <a:tcPr anchor="ctr" marL="60000" marR="60000" marT="20000" marB="20000">
                    <a:solidFill>
                      <a:srgbClr val="FFFFFF"/>
                    </a:solidFill>
                  </a:tcPr>
                </a:tc>
                <a:tc>
                  <a:txBody>
                    <a:bodyPr/>
                    <a:lstStyle/>
                    <a:p>
                      <a:r>
                        <a:rPr sz="1300">
                          <a:solidFill>
                            <a:srgbClr val="1F2937"/>
                          </a:solidFill>
                        </a:rPr>
                        <a:t>✓</a:t>
                      </a:r>
                    </a:p>
                  </a:txBody>
                  <a:tcPr anchor="ctr" marL="60000" marR="60000" marT="20000" marB="20000">
                    <a:solidFill>
                      <a:srgbClr val="FFFFFF"/>
                    </a:solidFill>
                  </a:tcPr>
                </a:tc>
                <a:tc>
                  <a:txBody>
                    <a:bodyPr/>
                    <a:lstStyle/>
                    <a:p>
                      <a:r>
                        <a:rPr sz="1300">
                          <a:solidFill>
                            <a:srgbClr val="1F2937"/>
                          </a:solidFill>
                        </a:rPr>
                        <a:t>✓</a:t>
                      </a:r>
                    </a:p>
                  </a:txBody>
                  <a:tcPr anchor="ctr" marL="60000" marR="60000" marT="20000" marB="20000">
                    <a:solidFill>
                      <a:srgbClr val="FFFFFF"/>
                    </a:solidFill>
                  </a:tcPr>
                </a:tc>
              </a:tr>
            </a:tbl>
          </a:graphicData>
        </a:graphic>
      </p:graphicFrame>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Live Validation — All 6 Run End-to-End</a:t>
            </a:r>
          </a:p>
        </p:txBody>
      </p:sp>
      <p:graphicFrame>
        <p:nvGraphicFramePr>
          <p:cNvPr id="4" name="Table 3"/>
          <p:cNvGraphicFramePr>
            <a:graphicFrameLocks noGrp="1"/>
          </p:cNvGraphicFramePr>
          <p:nvPr/>
        </p:nvGraphicFramePr>
        <p:xfrm>
          <a:off x="530000" y="1450000"/>
          <a:ext cx="11132000" cy="2660000"/>
        </p:xfrm>
        <a:graphic>
          <a:graphicData uri="http://schemas.openxmlformats.org/drawingml/2006/table">
            <a:tbl>
              <a:tblPr firstRow="1" bandRow="1">
                <a:tableStyleId>{5C22544A-7EE6-4342-B048-85BDC9FD1C3A}</a:tableStyleId>
              </a:tblPr>
              <a:tblGrid>
                <a:gridCol w="5566000"/>
                <a:gridCol w="5566000"/>
              </a:tblGrid>
              <a:tr h="380000">
                <a:tc>
                  <a:txBody>
                    <a:bodyPr/>
                    <a:lstStyle/>
                    <a:p>
                      <a:r>
                        <a:rPr sz="1300" b="1">
                          <a:solidFill>
                            <a:srgbClr val="FFFFFF"/>
                          </a:solidFill>
                        </a:rPr>
                        <a:t>Project</a:t>
                      </a:r>
                    </a:p>
                  </a:txBody>
                  <a:tcPr anchor="ctr" marL="60000" marR="60000" marT="20000" marB="20000">
                    <a:solidFill>
                      <a:srgbClr val="2563EB"/>
                    </a:solidFill>
                  </a:tcPr>
                </a:tc>
                <a:tc>
                  <a:txBody>
                    <a:bodyPr/>
                    <a:lstStyle/>
                    <a:p>
                      <a:r>
                        <a:rPr sz="1300" b="1">
                          <a:solidFill>
                            <a:srgbClr val="FFFFFF"/>
                          </a:solidFill>
                        </a:rPr>
                        <a:t>Live result on the 6 GB laptop</a:t>
                      </a:r>
                    </a:p>
                  </a:txBody>
                  <a:tcPr anchor="ctr" marL="60000" marR="60000" marT="20000" marB="20000">
                    <a:solidFill>
                      <a:srgbClr val="2563EB"/>
                    </a:solidFill>
                  </a:tcPr>
                </a:tc>
              </a:tr>
              <a:tr h="380000">
                <a:tc>
                  <a:txBody>
                    <a:bodyPr/>
                    <a:lstStyle/>
                    <a:p>
                      <a:r>
                        <a:rPr sz="1300">
                          <a:solidFill>
                            <a:srgbClr val="1F2937"/>
                          </a:solidFill>
                        </a:rPr>
                        <a:t>1 · Prompt Design</a:t>
                      </a:r>
                    </a:p>
                  </a:txBody>
                  <a:tcPr anchor="ctr" marL="60000" marR="60000" marT="20000" marB="20000">
                    <a:solidFill>
                      <a:srgbClr val="EFF6FF"/>
                    </a:solidFill>
                  </a:tcPr>
                </a:tc>
                <a:tc>
                  <a:txBody>
                    <a:bodyPr/>
                    <a:lstStyle/>
                    <a:p>
                      <a:r>
                        <a:rPr sz="1300">
                          <a:solidFill>
                            <a:srgbClr val="1F2937"/>
                          </a:solidFill>
                        </a:rPr>
                        <a:t>✅ structured answer + deterministic refusal on case prediction</a:t>
                      </a:r>
                    </a:p>
                  </a:txBody>
                  <a:tcPr anchor="ctr" marL="60000" marR="60000" marT="20000" marB="20000">
                    <a:solidFill>
                      <a:srgbClr val="EFF6FF"/>
                    </a:solidFill>
                  </a:tcPr>
                </a:tc>
              </a:tr>
              <a:tr h="380000">
                <a:tc>
                  <a:txBody>
                    <a:bodyPr/>
                    <a:lstStyle/>
                    <a:p>
                      <a:r>
                        <a:rPr sz="1300">
                          <a:solidFill>
                            <a:srgbClr val="1F2937"/>
                          </a:solidFill>
                        </a:rPr>
                        <a:t>2 · Fine-tuned vs Base</a:t>
                      </a:r>
                    </a:p>
                  </a:txBody>
                  <a:tcPr anchor="ctr" marL="60000" marR="60000" marT="20000" marB="20000">
                    <a:solidFill>
                      <a:srgbClr val="FFFFFF"/>
                    </a:solidFill>
                  </a:tcPr>
                </a:tc>
                <a:tc>
                  <a:txBody>
                    <a:bodyPr/>
                    <a:lstStyle/>
                    <a:p>
                      <a:r>
                        <a:rPr sz="1300">
                          <a:solidFill>
                            <a:srgbClr val="1F2937"/>
                          </a:solidFill>
                        </a:rPr>
                        <a:t>✅ base admits no knowledge; fine-tune emits real statute text</a:t>
                      </a:r>
                    </a:p>
                  </a:txBody>
                  <a:tcPr anchor="ctr" marL="60000" marR="60000" marT="20000" marB="20000">
                    <a:solidFill>
                      <a:srgbClr val="FFFFFF"/>
                    </a:solidFill>
                  </a:tcPr>
                </a:tc>
              </a:tr>
              <a:tr h="380000">
                <a:tc>
                  <a:txBody>
                    <a:bodyPr/>
                    <a:lstStyle/>
                    <a:p>
                      <a:r>
                        <a:rPr sz="1300">
                          <a:solidFill>
                            <a:srgbClr val="1F2937"/>
                          </a:solidFill>
                        </a:rPr>
                        <a:t>3 · Neo4j Graph RAG</a:t>
                      </a:r>
                    </a:p>
                  </a:txBody>
                  <a:tcPr anchor="ctr" marL="60000" marR="60000" marT="20000" marB="20000">
                    <a:solidFill>
                      <a:srgbClr val="EFF6FF"/>
                    </a:solidFill>
                  </a:tcPr>
                </a:tc>
                <a:tc>
                  <a:txBody>
                    <a:bodyPr/>
                    <a:lstStyle/>
                    <a:p>
                      <a:r>
                        <a:rPr sz="1300">
                          <a:solidFill>
                            <a:srgbClr val="1F2937"/>
                          </a:solidFill>
                        </a:rPr>
                        <a:t>✅ cited Article 5 correctly (~60 s)</a:t>
                      </a:r>
                    </a:p>
                  </a:txBody>
                  <a:tcPr anchor="ctr" marL="60000" marR="60000" marT="20000" marB="20000">
                    <a:solidFill>
                      <a:srgbClr val="EFF6FF"/>
                    </a:solidFill>
                  </a:tcPr>
                </a:tc>
              </a:tr>
              <a:tr h="380000">
                <a:tc>
                  <a:txBody>
                    <a:bodyPr/>
                    <a:lstStyle/>
                    <a:p>
                      <a:r>
                        <a:rPr sz="1300">
                          <a:solidFill>
                            <a:srgbClr val="1F2937"/>
                          </a:solidFill>
                        </a:rPr>
                        <a:t>4 · Bilingual RAG</a:t>
                      </a:r>
                    </a:p>
                  </a:txBody>
                  <a:tcPr anchor="ctr" marL="60000" marR="60000" marT="20000" marB="20000">
                    <a:solidFill>
                      <a:srgbClr val="FFFFFF"/>
                    </a:solidFill>
                  </a:tcPr>
                </a:tc>
                <a:tc>
                  <a:txBody>
                    <a:bodyPr/>
                    <a:lstStyle/>
                    <a:p>
                      <a:r>
                        <a:rPr sz="1300">
                          <a:solidFill>
                            <a:srgbClr val="1F2937"/>
                          </a:solidFill>
                        </a:rPr>
                        <a:t>✅ retrieval accurate (AR + EN); 3B answer conservative</a:t>
                      </a:r>
                    </a:p>
                  </a:txBody>
                  <a:tcPr anchor="ctr" marL="60000" marR="60000" marT="20000" marB="20000">
                    <a:solidFill>
                      <a:srgbClr val="FFFFFF"/>
                    </a:solidFill>
                  </a:tcPr>
                </a:tc>
              </a:tr>
              <a:tr h="380000">
                <a:tc>
                  <a:txBody>
                    <a:bodyPr/>
                    <a:lstStyle/>
                    <a:p>
                      <a:r>
                        <a:rPr sz="1300">
                          <a:solidFill>
                            <a:srgbClr val="1F2937"/>
                          </a:solidFill>
                        </a:rPr>
                        <a:t>5 · Multi-Agent</a:t>
                      </a:r>
                    </a:p>
                  </a:txBody>
                  <a:tcPr anchor="ctr" marL="60000" marR="60000" marT="20000" marB="20000">
                    <a:solidFill>
                      <a:srgbClr val="EFF6FF"/>
                    </a:solidFill>
                  </a:tcPr>
                </a:tc>
                <a:tc>
                  <a:txBody>
                    <a:bodyPr/>
                    <a:lstStyle/>
                    <a:p>
                      <a:r>
                        <a:rPr sz="1300">
                          <a:solidFill>
                            <a:srgbClr val="1F2937"/>
                          </a:solidFill>
                        </a:rPr>
                        <a:t>✅ routed → tool → bilingual answer, full trace (28.9 s)</a:t>
                      </a:r>
                    </a:p>
                  </a:txBody>
                  <a:tcPr anchor="ctr" marL="60000" marR="60000" marT="20000" marB="20000">
                    <a:solidFill>
                      <a:srgbClr val="EFF6FF"/>
                    </a:solidFill>
                  </a:tcPr>
                </a:tc>
              </a:tr>
              <a:tr h="380000">
                <a:tc>
                  <a:txBody>
                    <a:bodyPr/>
                    <a:lstStyle/>
                    <a:p>
                      <a:r>
                        <a:rPr sz="1300">
                          <a:solidFill>
                            <a:srgbClr val="1F2937"/>
                          </a:solidFill>
                        </a:rPr>
                        <a:t>6 · Combined</a:t>
                      </a:r>
                    </a:p>
                  </a:txBody>
                  <a:tcPr anchor="ctr" marL="60000" marR="60000" marT="20000" marB="20000">
                    <a:solidFill>
                      <a:srgbClr val="FFFFFF"/>
                    </a:solidFill>
                  </a:tcPr>
                </a:tc>
                <a:tc>
                  <a:txBody>
                    <a:bodyPr/>
                    <a:lstStyle/>
                    <a:p>
                      <a:r>
                        <a:rPr sz="1300">
                          <a:solidFill>
                            <a:srgbClr val="1F2937"/>
                          </a:solidFill>
                        </a:rPr>
                        <a:t>✅ retrieval-grounded fine-tune → correct cited Article 5</a:t>
                      </a:r>
                    </a:p>
                  </a:txBody>
                  <a:tcPr anchor="ctr" marL="60000" marR="60000" marT="20000" marB="20000">
                    <a:solidFill>
                      <a:srgbClr val="FFFFFF"/>
                    </a:solidFill>
                  </a:tcPr>
                </a:tc>
              </a:tr>
            </a:tbl>
          </a:graphicData>
        </a:graphic>
      </p:graphicFrame>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Key Takeaways</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Retrieval was rarely the bottleneck — BGE-M3 lifted topical recall to ≈97 %.</a:t>
            </a:r>
          </a:p>
          <a:p>
            <a:pPr>
              <a:spcAft>
                <a:spcPts val="600"/>
              </a:spcAft>
            </a:pPr>
            <a:r>
              <a:rPr sz="1800">
                <a:solidFill>
                  <a:srgbClr val="1F2937"/>
                </a:solidFill>
              </a:rPr>
              <a:t>• The hard part for a 3B model is exact article-number binding and fluency, not finding the right topic.</a:t>
            </a:r>
          </a:p>
          <a:p>
            <a:pPr>
              <a:spcAft>
                <a:spcPts val="600"/>
              </a:spcAft>
            </a:pPr>
            <a:r>
              <a:rPr sz="1800">
                <a:solidFill>
                  <a:srgbClr val="1F2937"/>
                </a:solidFill>
              </a:rPr>
              <a:t>• Prompting + safety gives a strong, cheap baseline; fine-tuning proves the model can internalise the domain; RAG gives grounding and citations.</a:t>
            </a:r>
          </a:p>
          <a:p>
            <a:pPr>
              <a:spcAft>
                <a:spcPts val="600"/>
              </a:spcAft>
            </a:pPr>
            <a:r>
              <a:rPr sz="1800">
                <a:solidFill>
                  <a:srgbClr val="1F2937"/>
                </a:solidFill>
              </a:rPr>
              <a:t>• The combined pipeline tests whether a domain-tuned writer beats a generic one on grounded answers.</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Future Work</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Push exact article-number fidelity (number-binding) in the fine-tune.</a:t>
            </a:r>
          </a:p>
          <a:p>
            <a:pPr>
              <a:spcAft>
                <a:spcPts val="600"/>
              </a:spcAft>
            </a:pPr>
            <a:r>
              <a:rPr sz="1800">
                <a:solidFill>
                  <a:srgbClr val="1F2937"/>
                </a:solidFill>
              </a:rPr>
              <a:t>• Quantitative head-to-head eval across all 6 projects (recall, citation accuracy, refusal correctness, fluency).</a:t>
            </a:r>
          </a:p>
          <a:p>
            <a:pPr>
              <a:spcAft>
                <a:spcPts val="600"/>
              </a:spcAft>
            </a:pPr>
            <a:r>
              <a:rPr sz="1800">
                <a:solidFill>
                  <a:srgbClr val="1F2937"/>
                </a:solidFill>
              </a:rPr>
              <a:t>• Bilingual-RAG fed into the fine-tuned model (a vector-RAG twin of Project 6).</a:t>
            </a:r>
          </a:p>
          <a:p>
            <a:pPr>
              <a:spcAft>
                <a:spcPts val="600"/>
              </a:spcAft>
            </a:pPr>
            <a:r>
              <a:rPr sz="1800">
                <a:solidFill>
                  <a:srgbClr val="1F2937"/>
                </a:solidFill>
              </a:rPr>
              <a:t>• Larger adapter / two-stage (knowledge → house-style) productionisation.</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3400" b="1">
                <a:solidFill>
                  <a:srgbClr val="1E3A8A"/>
                </a:solidFill>
              </a:rPr>
              <a:t>Appendix — Documentation &amp; Reproducibility</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 reports/experiments_journey.md — the full fine-tuning &amp; data journey (Experiments 1–5, datasets, eval numbers).</a:t>
            </a:r>
          </a:p>
          <a:p>
            <a:pPr>
              <a:spcAft>
                <a:spcPts val="600"/>
              </a:spcAft>
            </a:pPr>
            <a:r>
              <a:rPr sz="1800">
                <a:solidFill>
                  <a:srgbClr val="1F2937"/>
                </a:solidFill>
              </a:rPr>
              <a:t>• RUN.md — how to run every project + the unified UI.</a:t>
            </a:r>
          </a:p>
          <a:p>
            <a:pPr>
              <a:spcAft>
                <a:spcPts val="600"/>
              </a:spcAft>
            </a:pPr>
            <a:r>
              <a:rPr sz="1800">
                <a:solidFill>
                  <a:srgbClr val="1F2937"/>
                </a:solidFill>
              </a:rPr>
              <a:t>• docs/PROJECT_OVERVIEW.md — this deck.</a:t>
            </a:r>
          </a:p>
          <a:p>
            <a:pPr>
              <a:spcAft>
                <a:spcPts val="600"/>
              </a:spcAft>
            </a:pPr>
            <a:r>
              <a:rPr sz="1800">
                <a:solidFill>
                  <a:srgbClr val="1F2937"/>
                </a:solidFill>
              </a:rPr>
              <a:t>• Per-project READMEs: apps/bilingual_rag/, apps/legal_graphrag_finetuned/, src/legal_explainer/agents/.</a:t>
            </a:r>
          </a:p>
          <a:p>
            <a:pPr>
              <a:spcAft>
                <a:spcPts val="600"/>
              </a:spcAft>
            </a:pPr>
            <a:r>
              <a:rPr sz="1800">
                <a:solidFill>
                  <a:srgbClr val="1F2937"/>
                </a:solidFill>
              </a:rPr>
              <a:t>• Corpus: data/orig_data.json (1,093 articles) · training data: data/qa_pairs_knowledge.jsonl (22 K+).</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000" y="360000"/>
            <a:ext cx="11132000" cy="900000"/>
          </a:xfrm>
          <a:prstGeom prst="rect">
            <a:avLst/>
          </a:prstGeom>
          <a:noFill/>
        </p:spPr>
        <p:txBody>
          <a:bodyPr wrap="square">
            <a:spAutoFit/>
          </a:bodyPr>
          <a:lstStyle/>
          <a:p>
            <a:r>
              <a:rPr sz="4000" b="1">
                <a:solidFill>
                  <a:srgbClr val="1E3A8A"/>
                </a:solidFill>
              </a:rPr>
              <a:t>Thank You</a:t>
            </a:r>
          </a:p>
        </p:txBody>
      </p:sp>
      <p:sp>
        <p:nvSpPr>
          <p:cNvPr id="4" name="TextBox 3"/>
          <p:cNvSpPr txBox="1"/>
          <p:nvPr/>
        </p:nvSpPr>
        <p:spPr>
          <a:xfrm>
            <a:off x="530000" y="1450000"/>
            <a:ext cx="11132000" cy="5108000"/>
          </a:xfrm>
          <a:prstGeom prst="rect">
            <a:avLst/>
          </a:prstGeom>
          <a:noFill/>
        </p:spPr>
        <p:txBody>
          <a:bodyPr wrap="square">
            <a:spAutoFit/>
          </a:bodyPr>
          <a:lstStyle/>
          <a:p>
            <a:pPr>
              <a:spcAft>
                <a:spcPts val="600"/>
              </a:spcAft>
            </a:pPr>
            <a:r>
              <a:rPr sz="1800">
                <a:solidFill>
                  <a:srgbClr val="1F2937"/>
                </a:solidFill>
              </a:rPr>
              <a:t>Egyptian Civil Code — Bilingual Legal Explainer LLM</a:t>
            </a:r>
          </a:p>
          <a:p>
            <a:pPr>
              <a:spcAft>
                <a:spcPts val="600"/>
              </a:spcAft>
            </a:pPr>
            <a:r>
              <a:rPr sz="1800">
                <a:solidFill>
                  <a:srgbClr val="1F2937"/>
                </a:solidFill>
              </a:rPr>
              <a:t>One corpus · six approaches · one unified interface · a 6 GB laptop.</a:t>
            </a:r>
          </a:p>
        </p:txBody>
      </p:sp>
      <p:sp>
        <p:nvSpPr>
          <p:cNvPr id="5" name="TextBox 4"/>
          <p:cNvSpPr txBox="1"/>
          <p:nvPr/>
        </p:nvSpPr>
        <p:spPr>
          <a:xfrm>
            <a:off x="11292000" y="6438000"/>
            <a:ext cx="700000" cy="300000"/>
          </a:xfrm>
          <a:prstGeom prst="rect">
            <a:avLst/>
          </a:prstGeom>
          <a:noFill/>
        </p:spPr>
        <p:txBody>
          <a:bodyPr wrap="none">
            <a:spAutoFit/>
          </a:bodyPr>
          <a:lstStyle/>
          <a:p>
            <a:pPr algn="r"/>
            <a:r>
              <a:rPr sz="1100">
                <a:solidFill>
                  <a:srgbClr val="475569"/>
                </a:solidFill>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